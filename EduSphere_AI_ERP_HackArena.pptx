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2" d="100"/>
          <a:sy n="72" d="100"/>
        </p:scale>
        <p:origin x="828"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0"/>
            <a:ext cx="457200" cy="685800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601200" y="-457200"/>
            <a:ext cx="3657600" cy="3657600"/>
          </a:xfrm>
          <a:prstGeom prst="ellipse">
            <a:avLst/>
          </a:prstGeom>
          <a:solidFill>
            <a:srgbClr val="1A1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515600" y="4114800"/>
            <a:ext cx="2560320" cy="2560320"/>
          </a:xfrm>
          <a:prstGeom prst="ellipse">
            <a:avLst/>
          </a:prstGeom>
          <a:solidFill>
            <a:srgbClr val="141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868680"/>
            <a:ext cx="1554480" cy="1554480"/>
          </a:xfrm>
          <a:prstGeom prst="rect">
            <a:avLst/>
          </a:prstGeom>
          <a:solidFill>
            <a:srgbClr val="6366F1"/>
          </a:solidFill>
          <a:ln w="317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163967"/>
            <a:ext cx="1417320" cy="1325880"/>
          </a:xfrm>
          <a:prstGeom prst="rect">
            <a:avLst/>
          </a:prstGeom>
          <a:noFill/>
        </p:spPr>
        <p:txBody>
          <a:bodyPr wrap="square">
            <a:spAutoFit/>
          </a:bodyPr>
          <a:lstStyle/>
          <a:p>
            <a:pPr algn="ctr"/>
            <a:r>
              <a:rPr sz="5000" b="1" dirty="0">
                <a:solidFill>
                  <a:srgbClr val="FFFFFF"/>
                </a:solidFill>
              </a:rPr>
              <a:t>E</a:t>
            </a:r>
          </a:p>
        </p:txBody>
      </p:sp>
      <p:sp>
        <p:nvSpPr>
          <p:cNvPr id="7" name="TextBox 6"/>
          <p:cNvSpPr txBox="1"/>
          <p:nvPr/>
        </p:nvSpPr>
        <p:spPr>
          <a:xfrm>
            <a:off x="685800" y="2606040"/>
            <a:ext cx="10972800" cy="1005840"/>
          </a:xfrm>
          <a:prstGeom prst="rect">
            <a:avLst/>
          </a:prstGeom>
          <a:noFill/>
        </p:spPr>
        <p:txBody>
          <a:bodyPr wrap="square">
            <a:spAutoFit/>
          </a:bodyPr>
          <a:lstStyle/>
          <a:p>
            <a:pPr algn="l"/>
            <a:r>
              <a:rPr sz="5200" b="1">
                <a:solidFill>
                  <a:srgbClr val="FFFFFF"/>
                </a:solidFill>
              </a:rPr>
              <a:t>EduSphere AI ERP</a:t>
            </a:r>
          </a:p>
        </p:txBody>
      </p:sp>
      <p:sp>
        <p:nvSpPr>
          <p:cNvPr id="8" name="TextBox 7"/>
          <p:cNvSpPr txBox="1"/>
          <p:nvPr/>
        </p:nvSpPr>
        <p:spPr>
          <a:xfrm>
            <a:off x="685800" y="3703320"/>
            <a:ext cx="10515600" cy="353943"/>
          </a:xfrm>
          <a:prstGeom prst="rect">
            <a:avLst/>
          </a:prstGeom>
          <a:noFill/>
        </p:spPr>
        <p:txBody>
          <a:bodyPr wrap="square">
            <a:spAutoFit/>
          </a:bodyPr>
          <a:lstStyle/>
          <a:p>
            <a:pPr algn="l"/>
            <a:r>
              <a:rPr sz="1700" b="0" dirty="0">
                <a:solidFill>
                  <a:srgbClr val="06B6D4"/>
                </a:solidFill>
              </a:rPr>
              <a:t>Next-Generation Educational Resource Planning </a:t>
            </a:r>
          </a:p>
        </p:txBody>
      </p:sp>
      <p:sp>
        <p:nvSpPr>
          <p:cNvPr id="9" name="Rectangle 8"/>
          <p:cNvSpPr/>
          <p:nvPr/>
        </p:nvSpPr>
        <p:spPr>
          <a:xfrm>
            <a:off x="685800" y="4389120"/>
            <a:ext cx="4343400" cy="64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0" y="4389120"/>
            <a:ext cx="4343400"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4526280"/>
            <a:ext cx="10972800" cy="457200"/>
          </a:xfrm>
          <a:prstGeom prst="rect">
            <a:avLst/>
          </a:prstGeom>
          <a:noFill/>
        </p:spPr>
        <p:txBody>
          <a:bodyPr wrap="square">
            <a:spAutoFit/>
          </a:bodyPr>
          <a:lstStyle/>
          <a:p>
            <a:pPr algn="l"/>
            <a:r>
              <a:rPr sz="1250" b="0">
                <a:solidFill>
                  <a:srgbClr val="B0BAD4"/>
                </a:solidFill>
              </a:rPr>
              <a:t>Unifying Campus Operations  |  AI-Driven Personalization  |  Real-Time Insights  |  Automated Workflows</a:t>
            </a:r>
          </a:p>
        </p:txBody>
      </p:sp>
      <p:sp>
        <p:nvSpPr>
          <p:cNvPr id="12" name="Rectangle 11"/>
          <p:cNvSpPr/>
          <p:nvPr/>
        </p:nvSpPr>
        <p:spPr>
          <a:xfrm>
            <a:off x="685800" y="5193792"/>
            <a:ext cx="2926080" cy="502920"/>
          </a:xfrm>
          <a:prstGeom prst="rect">
            <a:avLst/>
          </a:prstGeom>
          <a:solidFill>
            <a:srgbClr val="101838"/>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8" y="5248656"/>
            <a:ext cx="2834640" cy="384048"/>
          </a:xfrm>
          <a:prstGeom prst="rect">
            <a:avLst/>
          </a:prstGeom>
          <a:noFill/>
        </p:spPr>
        <p:txBody>
          <a:bodyPr wrap="square">
            <a:spAutoFit/>
          </a:bodyPr>
          <a:lstStyle/>
          <a:p>
            <a:pPr algn="l"/>
            <a:r>
              <a:rPr sz="1200" b="0">
                <a:solidFill>
                  <a:srgbClr val="6366F1"/>
                </a:solidFill>
              </a:rPr>
              <a:t>  Category: EdTech / AI / ERP</a:t>
            </a:r>
          </a:p>
        </p:txBody>
      </p:sp>
      <p:sp>
        <p:nvSpPr>
          <p:cNvPr id="14" name="Rectangle 13"/>
          <p:cNvSpPr/>
          <p:nvPr/>
        </p:nvSpPr>
        <p:spPr>
          <a:xfrm>
            <a:off x="3749039" y="5193792"/>
            <a:ext cx="2743200" cy="502920"/>
          </a:xfrm>
          <a:prstGeom prst="rect">
            <a:avLst/>
          </a:prstGeom>
          <a:solidFill>
            <a:srgbClr val="10183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13048" y="5248656"/>
            <a:ext cx="2651760" cy="384048"/>
          </a:xfrm>
          <a:prstGeom prst="rect">
            <a:avLst/>
          </a:prstGeom>
          <a:noFill/>
        </p:spPr>
        <p:txBody>
          <a:bodyPr wrap="square">
            <a:spAutoFit/>
          </a:bodyPr>
          <a:lstStyle/>
          <a:p>
            <a:pPr algn="l"/>
            <a:r>
              <a:rPr sz="1200" b="0">
                <a:solidFill>
                  <a:srgbClr val="06B6D4"/>
                </a:solidFill>
              </a:rPr>
              <a:t>  Domain: Education Technology</a:t>
            </a:r>
          </a:p>
        </p:txBody>
      </p:sp>
      <p:sp>
        <p:nvSpPr>
          <p:cNvPr id="16" name="Rectangle 15"/>
          <p:cNvSpPr/>
          <p:nvPr/>
        </p:nvSpPr>
        <p:spPr>
          <a:xfrm>
            <a:off x="6629400" y="5193792"/>
            <a:ext cx="2560320" cy="502920"/>
          </a:xfrm>
          <a:prstGeom prst="rect">
            <a:avLst/>
          </a:prstGeom>
          <a:solidFill>
            <a:srgbClr val="101838"/>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93408" y="5248656"/>
            <a:ext cx="2468880" cy="384048"/>
          </a:xfrm>
          <a:prstGeom prst="rect">
            <a:avLst/>
          </a:prstGeom>
          <a:noFill/>
        </p:spPr>
        <p:txBody>
          <a:bodyPr wrap="square">
            <a:spAutoFit/>
          </a:bodyPr>
          <a:lstStyle/>
          <a:p>
            <a:pPr algn="l"/>
            <a:r>
              <a:rPr sz="1200" b="0">
                <a:solidFill>
                  <a:srgbClr val="A855F7"/>
                </a:solidFill>
              </a:rPr>
              <a:t>  Team: EduSphere</a:t>
            </a:r>
          </a:p>
        </p:txBody>
      </p:sp>
      <p:sp>
        <p:nvSpPr>
          <p:cNvPr id="18" name="Rectangle 17"/>
          <p:cNvSpPr/>
          <p:nvPr/>
        </p:nvSpPr>
        <p:spPr>
          <a:xfrm>
            <a:off x="0" y="6172200"/>
            <a:ext cx="12188952" cy="685800"/>
          </a:xfrm>
          <a:prstGeom prst="rect">
            <a:avLst/>
          </a:prstGeom>
          <a:solidFill>
            <a:srgbClr val="070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6281928"/>
            <a:ext cx="10972800" cy="276999"/>
          </a:xfrm>
          <a:prstGeom prst="rect">
            <a:avLst/>
          </a:prstGeom>
          <a:noFill/>
        </p:spPr>
        <p:txBody>
          <a:bodyPr wrap="square">
            <a:spAutoFit/>
          </a:bodyPr>
          <a:lstStyle/>
          <a:p>
            <a:pPr algn="ctr"/>
            <a:r>
              <a:rPr lang="en-US" sz="1200" b="0" dirty="0">
                <a:solidFill>
                  <a:srgbClr val="B0BAD4"/>
                </a:solidFill>
              </a:rPr>
              <a:t>Hyderabad </a:t>
            </a:r>
            <a:r>
              <a:rPr sz="1200" b="0" dirty="0">
                <a:solidFill>
                  <a:srgbClr val="B0BAD4"/>
                </a:solidFill>
              </a:rPr>
              <a:t>Zonal Hackathon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98448"/>
          </a:xfrm>
          <a:prstGeom prst="rect">
            <a:avLst/>
          </a:prstGeom>
          <a:solidFill>
            <a:srgbClr val="0D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094476" cy="64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4476" y="0"/>
            <a:ext cx="6094476"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09728"/>
            <a:ext cx="11430000" cy="685800"/>
          </a:xfrm>
          <a:prstGeom prst="rect">
            <a:avLst/>
          </a:prstGeom>
          <a:noFill/>
        </p:spPr>
        <p:txBody>
          <a:bodyPr wrap="square">
            <a:spAutoFit/>
          </a:bodyPr>
          <a:lstStyle/>
          <a:p>
            <a:pPr algn="l"/>
            <a:r>
              <a:rPr sz="2900" b="1">
                <a:solidFill>
                  <a:srgbClr val="FFFFFF"/>
                </a:solidFill>
              </a:rPr>
              <a:t>Problem Statement: The Broken Campus Experience</a:t>
            </a:r>
          </a:p>
        </p:txBody>
      </p:sp>
      <p:sp>
        <p:nvSpPr>
          <p:cNvPr id="6" name="TextBox 5"/>
          <p:cNvSpPr txBox="1"/>
          <p:nvPr/>
        </p:nvSpPr>
        <p:spPr>
          <a:xfrm>
            <a:off x="365760" y="768096"/>
            <a:ext cx="11430000" cy="420624"/>
          </a:xfrm>
          <a:prstGeom prst="rect">
            <a:avLst/>
          </a:prstGeom>
          <a:noFill/>
        </p:spPr>
        <p:txBody>
          <a:bodyPr wrap="square">
            <a:spAutoFit/>
          </a:bodyPr>
          <a:lstStyle/>
          <a:p>
            <a:pPr algn="l"/>
            <a:r>
              <a:rPr sz="1250" b="0">
                <a:solidFill>
                  <a:srgbClr val="B0BAD4"/>
                </a:solidFill>
              </a:rPr>
              <a:t>Modern educational institutions are held back by fragmented, outdated, and impersonal digital systems</a:t>
            </a:r>
          </a:p>
        </p:txBody>
      </p:sp>
      <p:sp>
        <p:nvSpPr>
          <p:cNvPr id="7" name="Rectangle 6"/>
          <p:cNvSpPr/>
          <p:nvPr/>
        </p:nvSpPr>
        <p:spPr>
          <a:xfrm>
            <a:off x="365760" y="1225296"/>
            <a:ext cx="2514600" cy="457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880360" y="1225296"/>
            <a:ext cx="2514600"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389888"/>
            <a:ext cx="5687568" cy="2514600"/>
          </a:xfrm>
          <a:prstGeom prst="rect">
            <a:avLst/>
          </a:prstGeom>
          <a:solidFill>
            <a:srgbClr val="0C142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5760" y="1389888"/>
            <a:ext cx="5687568" cy="4572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1463040"/>
            <a:ext cx="5577840" cy="347472"/>
          </a:xfrm>
          <a:prstGeom prst="rect">
            <a:avLst/>
          </a:prstGeom>
          <a:noFill/>
        </p:spPr>
        <p:txBody>
          <a:bodyPr wrap="square">
            <a:spAutoFit/>
          </a:bodyPr>
          <a:lstStyle/>
          <a:p>
            <a:pPr algn="l"/>
            <a:r>
              <a:rPr sz="1300" b="1">
                <a:solidFill>
                  <a:srgbClr val="FFFFFF"/>
                </a:solidFill>
              </a:rPr>
              <a:t>  01  Fragmented Tools &amp; Systems</a:t>
            </a:r>
          </a:p>
        </p:txBody>
      </p:sp>
      <p:sp>
        <p:nvSpPr>
          <p:cNvPr id="12" name="TextBox 11"/>
          <p:cNvSpPr txBox="1"/>
          <p:nvPr/>
        </p:nvSpPr>
        <p:spPr>
          <a:xfrm>
            <a:off x="530352" y="1938528"/>
            <a:ext cx="5486400" cy="577081"/>
          </a:xfrm>
          <a:prstGeom prst="rect">
            <a:avLst/>
          </a:prstGeom>
          <a:noFill/>
        </p:spPr>
        <p:txBody>
          <a:bodyPr wrap="square">
            <a:spAutoFit/>
          </a:bodyPr>
          <a:lstStyle/>
          <a:p>
            <a:pPr algn="just"/>
            <a:r>
              <a:rPr sz="1050" b="0" dirty="0">
                <a:solidFill>
                  <a:srgbClr val="B0BAD4"/>
                </a:solidFill>
              </a:rPr>
              <a:t>Students must switch between 5-10 different apps just to check attendance, download hall tickets, pay fees, and read notices. Data is siloed, redundant, and inconsistent across platforms. Critical information gets lost.</a:t>
            </a:r>
          </a:p>
        </p:txBody>
      </p:sp>
      <p:sp>
        <p:nvSpPr>
          <p:cNvPr id="13" name="Rectangle 12"/>
          <p:cNvSpPr/>
          <p:nvPr/>
        </p:nvSpPr>
        <p:spPr>
          <a:xfrm>
            <a:off x="502920" y="3218688"/>
            <a:ext cx="5413248" cy="512064"/>
          </a:xfrm>
          <a:prstGeom prst="rect">
            <a:avLst/>
          </a:prstGeom>
          <a:solidFill>
            <a:srgbClr val="081022"/>
          </a:solidFill>
          <a:ln w="1016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 y="3300984"/>
            <a:ext cx="5321808" cy="384048"/>
          </a:xfrm>
          <a:prstGeom prst="rect">
            <a:avLst/>
          </a:prstGeom>
          <a:noFill/>
        </p:spPr>
        <p:txBody>
          <a:bodyPr wrap="square">
            <a:spAutoFit/>
          </a:bodyPr>
          <a:lstStyle/>
          <a:p>
            <a:pPr algn="l"/>
            <a:r>
              <a:rPr sz="1000" b="0">
                <a:solidFill>
                  <a:srgbClr val="EF4444"/>
                </a:solidFill>
              </a:rPr>
              <a:t>  FACT: 80% of students report missing important campus notifications due to platform fragmentation.</a:t>
            </a:r>
          </a:p>
        </p:txBody>
      </p:sp>
      <p:sp>
        <p:nvSpPr>
          <p:cNvPr id="15" name="Rectangle 14"/>
          <p:cNvSpPr/>
          <p:nvPr/>
        </p:nvSpPr>
        <p:spPr>
          <a:xfrm>
            <a:off x="6281928" y="1389888"/>
            <a:ext cx="5687568" cy="2514600"/>
          </a:xfrm>
          <a:prstGeom prst="rect">
            <a:avLst/>
          </a:prstGeom>
          <a:solidFill>
            <a:srgbClr val="0C1426"/>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81928" y="1389888"/>
            <a:ext cx="5687568" cy="4572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27648" y="1463040"/>
            <a:ext cx="5577840" cy="347472"/>
          </a:xfrm>
          <a:prstGeom prst="rect">
            <a:avLst/>
          </a:prstGeom>
          <a:noFill/>
        </p:spPr>
        <p:txBody>
          <a:bodyPr wrap="square">
            <a:spAutoFit/>
          </a:bodyPr>
          <a:lstStyle/>
          <a:p>
            <a:pPr algn="l"/>
            <a:r>
              <a:rPr sz="1300" b="1">
                <a:solidFill>
                  <a:srgbClr val="FFFFFF"/>
                </a:solidFill>
              </a:rPr>
              <a:t>  02  Information Overload</a:t>
            </a:r>
          </a:p>
        </p:txBody>
      </p:sp>
      <p:sp>
        <p:nvSpPr>
          <p:cNvPr id="18" name="TextBox 17"/>
          <p:cNvSpPr txBox="1"/>
          <p:nvPr/>
        </p:nvSpPr>
        <p:spPr>
          <a:xfrm>
            <a:off x="6446520" y="1938528"/>
            <a:ext cx="5486400" cy="577081"/>
          </a:xfrm>
          <a:prstGeom prst="rect">
            <a:avLst/>
          </a:prstGeom>
          <a:noFill/>
        </p:spPr>
        <p:txBody>
          <a:bodyPr wrap="square">
            <a:spAutoFit/>
          </a:bodyPr>
          <a:lstStyle/>
          <a:p>
            <a:pPr algn="just"/>
            <a:r>
              <a:rPr sz="1050" b="0">
                <a:solidFill>
                  <a:srgbClr val="B0BAD4"/>
                </a:solidFill>
              </a:rPr>
              <a:t>Students are bombarded with notifications via WhatsApp, email, SMS, and physical notice boards simultaneously. There is no intelligent filtering, urgency prioritization, or personalization — everything looks equally important.</a:t>
            </a:r>
          </a:p>
        </p:txBody>
      </p:sp>
      <p:sp>
        <p:nvSpPr>
          <p:cNvPr id="19" name="Rectangle 18"/>
          <p:cNvSpPr/>
          <p:nvPr/>
        </p:nvSpPr>
        <p:spPr>
          <a:xfrm>
            <a:off x="6419088" y="3218688"/>
            <a:ext cx="5413248" cy="512064"/>
          </a:xfrm>
          <a:prstGeom prst="rect">
            <a:avLst/>
          </a:prstGeom>
          <a:solidFill>
            <a:srgbClr val="081022"/>
          </a:solidFill>
          <a:ln w="1016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83096" y="3300984"/>
            <a:ext cx="5321808" cy="384048"/>
          </a:xfrm>
          <a:prstGeom prst="rect">
            <a:avLst/>
          </a:prstGeom>
          <a:noFill/>
        </p:spPr>
        <p:txBody>
          <a:bodyPr wrap="square">
            <a:spAutoFit/>
          </a:bodyPr>
          <a:lstStyle/>
          <a:p>
            <a:pPr algn="l"/>
            <a:r>
              <a:rPr sz="1000" b="0">
                <a:solidFill>
                  <a:srgbClr val="F5A623"/>
                </a:solidFill>
              </a:rPr>
              <a:t>  FACT: 64% of fee-related penalties in colleges occur simply because students missed deadline notifications.</a:t>
            </a:r>
          </a:p>
        </p:txBody>
      </p:sp>
      <p:sp>
        <p:nvSpPr>
          <p:cNvPr id="21" name="Rectangle 20"/>
          <p:cNvSpPr/>
          <p:nvPr/>
        </p:nvSpPr>
        <p:spPr>
          <a:xfrm>
            <a:off x="365760" y="4059935"/>
            <a:ext cx="5687568" cy="2514600"/>
          </a:xfrm>
          <a:prstGeom prst="rect">
            <a:avLst/>
          </a:prstGeom>
          <a:solidFill>
            <a:srgbClr val="0C1426"/>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65760" y="4059935"/>
            <a:ext cx="5687568" cy="45720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4133087"/>
            <a:ext cx="5577840" cy="347472"/>
          </a:xfrm>
          <a:prstGeom prst="rect">
            <a:avLst/>
          </a:prstGeom>
          <a:noFill/>
        </p:spPr>
        <p:txBody>
          <a:bodyPr wrap="square">
            <a:spAutoFit/>
          </a:bodyPr>
          <a:lstStyle/>
          <a:p>
            <a:pPr algn="l"/>
            <a:r>
              <a:rPr sz="1300" b="1">
                <a:solidFill>
                  <a:srgbClr val="FFFFFF"/>
                </a:solidFill>
              </a:rPr>
              <a:t>  03  Crushing Administrative Burden</a:t>
            </a:r>
          </a:p>
        </p:txBody>
      </p:sp>
      <p:sp>
        <p:nvSpPr>
          <p:cNvPr id="24" name="TextBox 23"/>
          <p:cNvSpPr txBox="1"/>
          <p:nvPr/>
        </p:nvSpPr>
        <p:spPr>
          <a:xfrm>
            <a:off x="530352" y="4608575"/>
            <a:ext cx="5486400" cy="577081"/>
          </a:xfrm>
          <a:prstGeom prst="rect">
            <a:avLst/>
          </a:prstGeom>
          <a:noFill/>
        </p:spPr>
        <p:txBody>
          <a:bodyPr wrap="square">
            <a:spAutoFit/>
          </a:bodyPr>
          <a:lstStyle/>
          <a:p>
            <a:pPr algn="just"/>
            <a:r>
              <a:rPr sz="1050" b="0" dirty="0">
                <a:solidFill>
                  <a:srgbClr val="B0BAD4"/>
                </a:solidFill>
              </a:rPr>
              <a:t>Faculty members spend 3-5 hours per week answering repetitive student queries, processing paper-based leave forms, manually tracking fee defaulters, and compiling grade sheets — work that AI and automation can eliminate entirely.</a:t>
            </a:r>
          </a:p>
        </p:txBody>
      </p:sp>
      <p:sp>
        <p:nvSpPr>
          <p:cNvPr id="25" name="Rectangle 24"/>
          <p:cNvSpPr/>
          <p:nvPr/>
        </p:nvSpPr>
        <p:spPr>
          <a:xfrm>
            <a:off x="502920" y="5888736"/>
            <a:ext cx="5413248" cy="512064"/>
          </a:xfrm>
          <a:prstGeom prst="rect">
            <a:avLst/>
          </a:prstGeom>
          <a:solidFill>
            <a:srgbClr val="081022"/>
          </a:solidFill>
          <a:ln w="1016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6928" y="5971031"/>
            <a:ext cx="5321808" cy="384048"/>
          </a:xfrm>
          <a:prstGeom prst="rect">
            <a:avLst/>
          </a:prstGeom>
          <a:noFill/>
        </p:spPr>
        <p:txBody>
          <a:bodyPr wrap="square">
            <a:spAutoFit/>
          </a:bodyPr>
          <a:lstStyle/>
          <a:p>
            <a:pPr algn="l"/>
            <a:r>
              <a:rPr sz="1000" b="0">
                <a:solidFill>
                  <a:srgbClr val="A855F7"/>
                </a:solidFill>
              </a:rPr>
              <a:t>  FACT: Administrators handle 200+ routine student queries per month that could be automated with AI.</a:t>
            </a:r>
          </a:p>
        </p:txBody>
      </p:sp>
      <p:sp>
        <p:nvSpPr>
          <p:cNvPr id="27" name="Rectangle 26"/>
          <p:cNvSpPr/>
          <p:nvPr/>
        </p:nvSpPr>
        <p:spPr>
          <a:xfrm>
            <a:off x="6281928" y="4059935"/>
            <a:ext cx="5687568" cy="2514600"/>
          </a:xfrm>
          <a:prstGeom prst="rect">
            <a:avLst/>
          </a:prstGeom>
          <a:solidFill>
            <a:srgbClr val="0C142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81928" y="4059935"/>
            <a:ext cx="5687568" cy="4572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27648" y="4133087"/>
            <a:ext cx="5577840" cy="347472"/>
          </a:xfrm>
          <a:prstGeom prst="rect">
            <a:avLst/>
          </a:prstGeom>
          <a:noFill/>
        </p:spPr>
        <p:txBody>
          <a:bodyPr wrap="square">
            <a:spAutoFit/>
          </a:bodyPr>
          <a:lstStyle/>
          <a:p>
            <a:pPr algn="l"/>
            <a:r>
              <a:rPr sz="1300" b="1">
                <a:solidFill>
                  <a:srgbClr val="FFFFFF"/>
                </a:solidFill>
              </a:rPr>
              <a:t>  04  Zero Personalization or Intelligence</a:t>
            </a:r>
          </a:p>
        </p:txBody>
      </p:sp>
      <p:sp>
        <p:nvSpPr>
          <p:cNvPr id="30" name="TextBox 29"/>
          <p:cNvSpPr txBox="1"/>
          <p:nvPr/>
        </p:nvSpPr>
        <p:spPr>
          <a:xfrm>
            <a:off x="6446520" y="4608575"/>
            <a:ext cx="5486400" cy="577081"/>
          </a:xfrm>
          <a:prstGeom prst="rect">
            <a:avLst/>
          </a:prstGeom>
          <a:noFill/>
        </p:spPr>
        <p:txBody>
          <a:bodyPr wrap="square">
            <a:spAutoFit/>
          </a:bodyPr>
          <a:lstStyle/>
          <a:p>
            <a:pPr algn="just"/>
            <a:r>
              <a:rPr sz="1050" b="0">
                <a:solidFill>
                  <a:srgbClr val="B0BAD4"/>
                </a:solidFill>
              </a:rPr>
              <a:t>Every student — regardless of semester, branch, or academic standing — sees the same generic ERP interface. No system understands a student's context, anticipates their needs, or provides intelligent, proactive academic support.</a:t>
            </a:r>
          </a:p>
        </p:txBody>
      </p:sp>
      <p:sp>
        <p:nvSpPr>
          <p:cNvPr id="31" name="Rectangle 30"/>
          <p:cNvSpPr/>
          <p:nvPr/>
        </p:nvSpPr>
        <p:spPr>
          <a:xfrm>
            <a:off x="6419088" y="5888736"/>
            <a:ext cx="5413248" cy="512064"/>
          </a:xfrm>
          <a:prstGeom prst="rect">
            <a:avLst/>
          </a:prstGeom>
          <a:solidFill>
            <a:srgbClr val="081022"/>
          </a:solidFill>
          <a:ln w="1016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83096" y="5971031"/>
            <a:ext cx="5321808" cy="384048"/>
          </a:xfrm>
          <a:prstGeom prst="rect">
            <a:avLst/>
          </a:prstGeom>
          <a:noFill/>
        </p:spPr>
        <p:txBody>
          <a:bodyPr wrap="square">
            <a:spAutoFit/>
          </a:bodyPr>
          <a:lstStyle/>
          <a:p>
            <a:pPr algn="l"/>
            <a:r>
              <a:rPr sz="1000" b="0">
                <a:solidFill>
                  <a:srgbClr val="06B6D4"/>
                </a:solidFill>
              </a:rPr>
              <a:t>  FACT: Students with personalized academic support demonstrate 40% better engagement and outcomes.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98448"/>
          </a:xfrm>
          <a:prstGeom prst="rect">
            <a:avLst/>
          </a:prstGeom>
          <a:solidFill>
            <a:srgbClr val="0D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094476" cy="64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4476" y="0"/>
            <a:ext cx="6094476"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09728"/>
            <a:ext cx="11430000" cy="685800"/>
          </a:xfrm>
          <a:prstGeom prst="rect">
            <a:avLst/>
          </a:prstGeom>
          <a:noFill/>
        </p:spPr>
        <p:txBody>
          <a:bodyPr wrap="square">
            <a:spAutoFit/>
          </a:bodyPr>
          <a:lstStyle/>
          <a:p>
            <a:pPr algn="l"/>
            <a:r>
              <a:rPr sz="2900" b="1">
                <a:solidFill>
                  <a:srgbClr val="FFFFFF"/>
                </a:solidFill>
              </a:rPr>
              <a:t>Proposed Solution: EduSphere AI ERP</a:t>
            </a:r>
          </a:p>
        </p:txBody>
      </p:sp>
      <p:sp>
        <p:nvSpPr>
          <p:cNvPr id="6" name="TextBox 5"/>
          <p:cNvSpPr txBox="1"/>
          <p:nvPr/>
        </p:nvSpPr>
        <p:spPr>
          <a:xfrm>
            <a:off x="365760" y="768096"/>
            <a:ext cx="11430000" cy="420624"/>
          </a:xfrm>
          <a:prstGeom prst="rect">
            <a:avLst/>
          </a:prstGeom>
          <a:noFill/>
        </p:spPr>
        <p:txBody>
          <a:bodyPr wrap="square">
            <a:spAutoFit/>
          </a:bodyPr>
          <a:lstStyle/>
          <a:p>
            <a:pPr algn="l"/>
            <a:r>
              <a:rPr sz="1250" b="0">
                <a:solidFill>
                  <a:srgbClr val="B0BAD4"/>
                </a:solidFill>
              </a:rPr>
              <a:t>A unified, AI-powered campus intelligence platform — one login, every need, every role</a:t>
            </a:r>
          </a:p>
        </p:txBody>
      </p:sp>
      <p:sp>
        <p:nvSpPr>
          <p:cNvPr id="7" name="Rectangle 6"/>
          <p:cNvSpPr/>
          <p:nvPr/>
        </p:nvSpPr>
        <p:spPr>
          <a:xfrm>
            <a:off x="365760" y="1225296"/>
            <a:ext cx="2514600" cy="457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880360" y="1225296"/>
            <a:ext cx="2514600"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371600"/>
            <a:ext cx="11430000" cy="658368"/>
          </a:xfrm>
          <a:prstGeom prst="rect">
            <a:avLst/>
          </a:prstGeom>
          <a:solidFill>
            <a:srgbClr val="0C1426"/>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463040"/>
            <a:ext cx="11155680" cy="461665"/>
          </a:xfrm>
          <a:prstGeom prst="rect">
            <a:avLst/>
          </a:prstGeom>
          <a:noFill/>
        </p:spPr>
        <p:txBody>
          <a:bodyPr wrap="square">
            <a:spAutoFit/>
          </a:bodyPr>
          <a:lstStyle/>
          <a:p>
            <a:pPr algn="just"/>
            <a:r>
              <a:rPr sz="1200" b="0" dirty="0" err="1">
                <a:solidFill>
                  <a:srgbClr val="B0BAD4"/>
                </a:solidFill>
              </a:rPr>
              <a:t>EduSphere</a:t>
            </a:r>
            <a:r>
              <a:rPr sz="1200" b="0" dirty="0">
                <a:solidFill>
                  <a:srgbClr val="B0BAD4"/>
                </a:solidFill>
              </a:rPr>
              <a:t> replaces all fragmented campus tools with a single role-based portal for Students, Faculty, Parents, and Admins — powered by Google Gemini AI for 24/7 contextual intelligence and </a:t>
            </a:r>
            <a:r>
              <a:rPr sz="1200" b="0" dirty="0" err="1">
                <a:solidFill>
                  <a:srgbClr val="B0BAD4"/>
                </a:solidFill>
              </a:rPr>
              <a:t>Razorpay</a:t>
            </a:r>
            <a:r>
              <a:rPr sz="1200" b="0" dirty="0">
                <a:solidFill>
                  <a:srgbClr val="B0BAD4"/>
                </a:solidFill>
              </a:rPr>
              <a:t> for seamless fee management.</a:t>
            </a:r>
          </a:p>
        </p:txBody>
      </p:sp>
      <p:sp>
        <p:nvSpPr>
          <p:cNvPr id="11" name="Rectangle 10"/>
          <p:cNvSpPr/>
          <p:nvPr/>
        </p:nvSpPr>
        <p:spPr>
          <a:xfrm>
            <a:off x="365760" y="2176272"/>
            <a:ext cx="5687568" cy="2176272"/>
          </a:xfrm>
          <a:prstGeom prst="rect">
            <a:avLst/>
          </a:prstGeom>
          <a:solidFill>
            <a:srgbClr val="0C1426"/>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65760" y="2176272"/>
            <a:ext cx="5687568" cy="42062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0624" y="2240279"/>
            <a:ext cx="5577840" cy="329184"/>
          </a:xfrm>
          <a:prstGeom prst="rect">
            <a:avLst/>
          </a:prstGeom>
          <a:noFill/>
        </p:spPr>
        <p:txBody>
          <a:bodyPr wrap="square">
            <a:spAutoFit/>
          </a:bodyPr>
          <a:lstStyle/>
          <a:p>
            <a:pPr algn="l"/>
            <a:r>
              <a:rPr sz="1300" b="1">
                <a:solidFill>
                  <a:srgbClr val="FFFFFF"/>
                </a:solidFill>
              </a:rPr>
              <a:t>  Unified Single Portal</a:t>
            </a:r>
          </a:p>
        </p:txBody>
      </p:sp>
      <p:sp>
        <p:nvSpPr>
          <p:cNvPr id="14" name="TextBox 13"/>
          <p:cNvSpPr txBox="1"/>
          <p:nvPr/>
        </p:nvSpPr>
        <p:spPr>
          <a:xfrm>
            <a:off x="512064" y="2688336"/>
            <a:ext cx="3108960" cy="577081"/>
          </a:xfrm>
          <a:prstGeom prst="rect">
            <a:avLst/>
          </a:prstGeom>
          <a:noFill/>
        </p:spPr>
        <p:txBody>
          <a:bodyPr wrap="square">
            <a:spAutoFit/>
          </a:bodyPr>
          <a:lstStyle/>
          <a:p>
            <a:pPr algn="just"/>
            <a:r>
              <a:rPr sz="1050" b="0">
                <a:solidFill>
                  <a:srgbClr val="B0BAD4"/>
                </a:solidFill>
              </a:rPr>
              <a:t>One login. Five roles. Every campus need served from a single, beautiful, mobile-responsive dashboard. No app-switching, no confusion, no missed information.</a:t>
            </a:r>
          </a:p>
        </p:txBody>
      </p:sp>
      <p:sp>
        <p:nvSpPr>
          <p:cNvPr id="15" name="Rectangle 14"/>
          <p:cNvSpPr/>
          <p:nvPr/>
        </p:nvSpPr>
        <p:spPr>
          <a:xfrm>
            <a:off x="3730752" y="2651760"/>
            <a:ext cx="2157984" cy="356616"/>
          </a:xfrm>
          <a:prstGeom prst="rect">
            <a:avLst/>
          </a:prstGeom>
          <a:solidFill>
            <a:srgbClr val="081022"/>
          </a:solidFill>
          <a:ln w="1016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785616" y="2697479"/>
            <a:ext cx="2057400" cy="310896"/>
          </a:xfrm>
          <a:prstGeom prst="rect">
            <a:avLst/>
          </a:prstGeom>
          <a:noFill/>
        </p:spPr>
        <p:txBody>
          <a:bodyPr wrap="square">
            <a:spAutoFit/>
          </a:bodyPr>
          <a:lstStyle/>
          <a:p>
            <a:pPr algn="l"/>
            <a:r>
              <a:rPr sz="1000" b="0">
                <a:solidFill>
                  <a:srgbClr val="6366F1"/>
                </a:solidFill>
              </a:rPr>
              <a:t>  + Student, Faculty, Parent, Admin roles</a:t>
            </a:r>
          </a:p>
        </p:txBody>
      </p:sp>
      <p:sp>
        <p:nvSpPr>
          <p:cNvPr id="17" name="Rectangle 16"/>
          <p:cNvSpPr/>
          <p:nvPr/>
        </p:nvSpPr>
        <p:spPr>
          <a:xfrm>
            <a:off x="3730752" y="3063240"/>
            <a:ext cx="2157984" cy="356616"/>
          </a:xfrm>
          <a:prstGeom prst="rect">
            <a:avLst/>
          </a:prstGeom>
          <a:solidFill>
            <a:srgbClr val="081022"/>
          </a:solidFill>
          <a:ln w="1016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85616" y="3108960"/>
            <a:ext cx="2057400" cy="310896"/>
          </a:xfrm>
          <a:prstGeom prst="rect">
            <a:avLst/>
          </a:prstGeom>
          <a:noFill/>
        </p:spPr>
        <p:txBody>
          <a:bodyPr wrap="square">
            <a:spAutoFit/>
          </a:bodyPr>
          <a:lstStyle/>
          <a:p>
            <a:pPr algn="l"/>
            <a:r>
              <a:rPr sz="1000" b="0">
                <a:solidFill>
                  <a:srgbClr val="6366F1"/>
                </a:solidFill>
              </a:rPr>
              <a:t>  + Role-aware personalized dashboards</a:t>
            </a:r>
          </a:p>
        </p:txBody>
      </p:sp>
      <p:sp>
        <p:nvSpPr>
          <p:cNvPr id="19" name="Rectangle 18"/>
          <p:cNvSpPr/>
          <p:nvPr/>
        </p:nvSpPr>
        <p:spPr>
          <a:xfrm>
            <a:off x="3730752" y="3474720"/>
            <a:ext cx="2157984" cy="356616"/>
          </a:xfrm>
          <a:prstGeom prst="rect">
            <a:avLst/>
          </a:prstGeom>
          <a:solidFill>
            <a:srgbClr val="081022"/>
          </a:solidFill>
          <a:ln w="1016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785616" y="3520439"/>
            <a:ext cx="2057400" cy="310896"/>
          </a:xfrm>
          <a:prstGeom prst="rect">
            <a:avLst/>
          </a:prstGeom>
          <a:noFill/>
        </p:spPr>
        <p:txBody>
          <a:bodyPr wrap="square">
            <a:spAutoFit/>
          </a:bodyPr>
          <a:lstStyle/>
          <a:p>
            <a:pPr algn="l"/>
            <a:r>
              <a:rPr sz="1000" b="0">
                <a:solidFill>
                  <a:srgbClr val="6366F1"/>
                </a:solidFill>
              </a:rPr>
              <a:t>  + Mobile-responsive glassmorphism UI</a:t>
            </a:r>
          </a:p>
        </p:txBody>
      </p:sp>
      <p:sp>
        <p:nvSpPr>
          <p:cNvPr id="21" name="Rectangle 20"/>
          <p:cNvSpPr/>
          <p:nvPr/>
        </p:nvSpPr>
        <p:spPr>
          <a:xfrm>
            <a:off x="3730752" y="3886200"/>
            <a:ext cx="2157984" cy="356616"/>
          </a:xfrm>
          <a:prstGeom prst="rect">
            <a:avLst/>
          </a:prstGeom>
          <a:solidFill>
            <a:srgbClr val="081022"/>
          </a:solidFill>
          <a:ln w="1016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85616" y="3931920"/>
            <a:ext cx="2057400" cy="310896"/>
          </a:xfrm>
          <a:prstGeom prst="rect">
            <a:avLst/>
          </a:prstGeom>
          <a:noFill/>
        </p:spPr>
        <p:txBody>
          <a:bodyPr wrap="square">
            <a:spAutoFit/>
          </a:bodyPr>
          <a:lstStyle/>
          <a:p>
            <a:pPr algn="l"/>
            <a:r>
              <a:rPr sz="1000" b="0">
                <a:solidFill>
                  <a:srgbClr val="6366F1"/>
                </a:solidFill>
              </a:rPr>
              <a:t>  + Zero learning curve interface</a:t>
            </a:r>
          </a:p>
        </p:txBody>
      </p:sp>
      <p:sp>
        <p:nvSpPr>
          <p:cNvPr id="23" name="Rectangle 22"/>
          <p:cNvSpPr/>
          <p:nvPr/>
        </p:nvSpPr>
        <p:spPr>
          <a:xfrm>
            <a:off x="6281928" y="2176272"/>
            <a:ext cx="5687568" cy="2176272"/>
          </a:xfrm>
          <a:prstGeom prst="rect">
            <a:avLst/>
          </a:prstGeom>
          <a:solidFill>
            <a:srgbClr val="0C142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81928" y="2176272"/>
            <a:ext cx="5687568" cy="42062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36792" y="2240279"/>
            <a:ext cx="5577840" cy="329184"/>
          </a:xfrm>
          <a:prstGeom prst="rect">
            <a:avLst/>
          </a:prstGeom>
          <a:noFill/>
        </p:spPr>
        <p:txBody>
          <a:bodyPr wrap="square">
            <a:spAutoFit/>
          </a:bodyPr>
          <a:lstStyle/>
          <a:p>
            <a:pPr algn="l"/>
            <a:r>
              <a:rPr sz="1300" b="1">
                <a:solidFill>
                  <a:srgbClr val="FFFFFF"/>
                </a:solidFill>
              </a:rPr>
              <a:t>  AI-Powered Assistant</a:t>
            </a:r>
          </a:p>
        </p:txBody>
      </p:sp>
      <p:sp>
        <p:nvSpPr>
          <p:cNvPr id="26" name="TextBox 25"/>
          <p:cNvSpPr txBox="1"/>
          <p:nvPr/>
        </p:nvSpPr>
        <p:spPr>
          <a:xfrm>
            <a:off x="6428232" y="2688336"/>
            <a:ext cx="3108960" cy="738664"/>
          </a:xfrm>
          <a:prstGeom prst="rect">
            <a:avLst/>
          </a:prstGeom>
          <a:noFill/>
        </p:spPr>
        <p:txBody>
          <a:bodyPr wrap="square">
            <a:spAutoFit/>
          </a:bodyPr>
          <a:lstStyle/>
          <a:p>
            <a:pPr algn="just"/>
            <a:r>
              <a:rPr sz="1050" b="0" dirty="0">
                <a:solidFill>
                  <a:srgbClr val="B0BAD4"/>
                </a:solidFill>
              </a:rPr>
              <a:t>A Gemini AI chatbot dynamically injected with the student's complete academic profile. It knows their semester, subjects, timetable, fees, and grades — and answers accordingly.</a:t>
            </a:r>
          </a:p>
        </p:txBody>
      </p:sp>
      <p:sp>
        <p:nvSpPr>
          <p:cNvPr id="27" name="Rectangle 26"/>
          <p:cNvSpPr/>
          <p:nvPr/>
        </p:nvSpPr>
        <p:spPr>
          <a:xfrm>
            <a:off x="9646920" y="2651760"/>
            <a:ext cx="2157984" cy="356616"/>
          </a:xfrm>
          <a:prstGeom prst="rect">
            <a:avLst/>
          </a:prstGeom>
          <a:solidFill>
            <a:srgbClr val="081022"/>
          </a:solidFill>
          <a:ln w="1016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701784" y="2697479"/>
            <a:ext cx="2057400" cy="310896"/>
          </a:xfrm>
          <a:prstGeom prst="rect">
            <a:avLst/>
          </a:prstGeom>
          <a:noFill/>
        </p:spPr>
        <p:txBody>
          <a:bodyPr wrap="square">
            <a:spAutoFit/>
          </a:bodyPr>
          <a:lstStyle/>
          <a:p>
            <a:pPr algn="l"/>
            <a:r>
              <a:rPr sz="1000" b="0">
                <a:solidFill>
                  <a:srgbClr val="06B6D4"/>
                </a:solidFill>
              </a:rPr>
              <a:t>  + Google Gemini 1.5 Flash model</a:t>
            </a:r>
          </a:p>
        </p:txBody>
      </p:sp>
      <p:sp>
        <p:nvSpPr>
          <p:cNvPr id="29" name="Rectangle 28"/>
          <p:cNvSpPr/>
          <p:nvPr/>
        </p:nvSpPr>
        <p:spPr>
          <a:xfrm>
            <a:off x="9646920" y="3063240"/>
            <a:ext cx="2157984" cy="356616"/>
          </a:xfrm>
          <a:prstGeom prst="rect">
            <a:avLst/>
          </a:prstGeom>
          <a:solidFill>
            <a:srgbClr val="081022"/>
          </a:solidFill>
          <a:ln w="1016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701784" y="3108960"/>
            <a:ext cx="2057400" cy="310896"/>
          </a:xfrm>
          <a:prstGeom prst="rect">
            <a:avLst/>
          </a:prstGeom>
          <a:noFill/>
        </p:spPr>
        <p:txBody>
          <a:bodyPr wrap="square">
            <a:spAutoFit/>
          </a:bodyPr>
          <a:lstStyle/>
          <a:p>
            <a:pPr algn="l"/>
            <a:r>
              <a:rPr sz="1000" b="0">
                <a:solidFill>
                  <a:srgbClr val="06B6D4"/>
                </a:solidFill>
              </a:rPr>
              <a:t>  + Real-time student profile injection</a:t>
            </a:r>
          </a:p>
        </p:txBody>
      </p:sp>
      <p:sp>
        <p:nvSpPr>
          <p:cNvPr id="31" name="Rectangle 30"/>
          <p:cNvSpPr/>
          <p:nvPr/>
        </p:nvSpPr>
        <p:spPr>
          <a:xfrm>
            <a:off x="9646920" y="3474720"/>
            <a:ext cx="2157984" cy="356616"/>
          </a:xfrm>
          <a:prstGeom prst="rect">
            <a:avLst/>
          </a:prstGeom>
          <a:solidFill>
            <a:srgbClr val="081022"/>
          </a:solidFill>
          <a:ln w="1016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701784" y="3520439"/>
            <a:ext cx="2057400" cy="310896"/>
          </a:xfrm>
          <a:prstGeom prst="rect">
            <a:avLst/>
          </a:prstGeom>
          <a:noFill/>
        </p:spPr>
        <p:txBody>
          <a:bodyPr wrap="square">
            <a:spAutoFit/>
          </a:bodyPr>
          <a:lstStyle/>
          <a:p>
            <a:pPr algn="l"/>
            <a:r>
              <a:rPr sz="1000" b="0">
                <a:solidFill>
                  <a:srgbClr val="06B6D4"/>
                </a:solidFill>
              </a:rPr>
              <a:t>  + Persona-engineered system prompts</a:t>
            </a:r>
          </a:p>
        </p:txBody>
      </p:sp>
      <p:sp>
        <p:nvSpPr>
          <p:cNvPr id="33" name="Rectangle 32"/>
          <p:cNvSpPr/>
          <p:nvPr/>
        </p:nvSpPr>
        <p:spPr>
          <a:xfrm>
            <a:off x="9646920" y="3886200"/>
            <a:ext cx="2157984" cy="356616"/>
          </a:xfrm>
          <a:prstGeom prst="rect">
            <a:avLst/>
          </a:prstGeom>
          <a:solidFill>
            <a:srgbClr val="081022"/>
          </a:solidFill>
          <a:ln w="1016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701784" y="3931920"/>
            <a:ext cx="2057400" cy="310896"/>
          </a:xfrm>
          <a:prstGeom prst="rect">
            <a:avLst/>
          </a:prstGeom>
          <a:noFill/>
        </p:spPr>
        <p:txBody>
          <a:bodyPr wrap="square">
            <a:spAutoFit/>
          </a:bodyPr>
          <a:lstStyle/>
          <a:p>
            <a:pPr algn="l"/>
            <a:r>
              <a:rPr sz="1000" b="0">
                <a:solidFill>
                  <a:srgbClr val="06B6D4"/>
                </a:solidFill>
              </a:rPr>
              <a:t>  + 24/7 availability, zero wait time</a:t>
            </a:r>
          </a:p>
        </p:txBody>
      </p:sp>
      <p:sp>
        <p:nvSpPr>
          <p:cNvPr id="35" name="Rectangle 34"/>
          <p:cNvSpPr/>
          <p:nvPr/>
        </p:nvSpPr>
        <p:spPr>
          <a:xfrm>
            <a:off x="365760" y="4489704"/>
            <a:ext cx="5687568" cy="2176272"/>
          </a:xfrm>
          <a:prstGeom prst="rect">
            <a:avLst/>
          </a:prstGeom>
          <a:solidFill>
            <a:srgbClr val="0C1426"/>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65760" y="4489704"/>
            <a:ext cx="5687568" cy="420624"/>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20624" y="4553712"/>
            <a:ext cx="5577840" cy="329184"/>
          </a:xfrm>
          <a:prstGeom prst="rect">
            <a:avLst/>
          </a:prstGeom>
          <a:noFill/>
        </p:spPr>
        <p:txBody>
          <a:bodyPr wrap="square">
            <a:spAutoFit/>
          </a:bodyPr>
          <a:lstStyle/>
          <a:p>
            <a:pPr algn="l"/>
            <a:r>
              <a:rPr sz="1300" b="1">
                <a:solidFill>
                  <a:srgbClr val="FFFFFF"/>
                </a:solidFill>
              </a:rPr>
              <a:t>  End-to-End Automation</a:t>
            </a:r>
          </a:p>
        </p:txBody>
      </p:sp>
      <p:sp>
        <p:nvSpPr>
          <p:cNvPr id="38" name="TextBox 37"/>
          <p:cNvSpPr txBox="1"/>
          <p:nvPr/>
        </p:nvSpPr>
        <p:spPr>
          <a:xfrm>
            <a:off x="512064" y="5001768"/>
            <a:ext cx="3108960" cy="738664"/>
          </a:xfrm>
          <a:prstGeom prst="rect">
            <a:avLst/>
          </a:prstGeom>
          <a:noFill/>
        </p:spPr>
        <p:txBody>
          <a:bodyPr wrap="square">
            <a:spAutoFit/>
          </a:bodyPr>
          <a:lstStyle/>
          <a:p>
            <a:pPr algn="just"/>
            <a:r>
              <a:rPr sz="1050" b="0" dirty="0">
                <a:solidFill>
                  <a:srgbClr val="B0BAD4"/>
                </a:solidFill>
              </a:rPr>
              <a:t>Every repetitive administrative task is digitized: fee payments via </a:t>
            </a:r>
            <a:r>
              <a:rPr sz="1050" b="0" dirty="0" err="1">
                <a:solidFill>
                  <a:srgbClr val="B0BAD4"/>
                </a:solidFill>
              </a:rPr>
              <a:t>Razorpay</a:t>
            </a:r>
            <a:r>
              <a:rPr sz="1050" b="0" dirty="0">
                <a:solidFill>
                  <a:srgbClr val="B0BAD4"/>
                </a:solidFill>
              </a:rPr>
              <a:t>, digital leave approvals, automatic hall ticket generation, and real-time grade notifications.</a:t>
            </a:r>
          </a:p>
        </p:txBody>
      </p:sp>
      <p:sp>
        <p:nvSpPr>
          <p:cNvPr id="39" name="Rectangle 38"/>
          <p:cNvSpPr/>
          <p:nvPr/>
        </p:nvSpPr>
        <p:spPr>
          <a:xfrm>
            <a:off x="3730752" y="4965192"/>
            <a:ext cx="2157984" cy="356616"/>
          </a:xfrm>
          <a:prstGeom prst="rect">
            <a:avLst/>
          </a:prstGeom>
          <a:solidFill>
            <a:srgbClr val="081022"/>
          </a:solidFill>
          <a:ln w="1016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785616" y="5010912"/>
            <a:ext cx="2057400" cy="310896"/>
          </a:xfrm>
          <a:prstGeom prst="rect">
            <a:avLst/>
          </a:prstGeom>
          <a:noFill/>
        </p:spPr>
        <p:txBody>
          <a:bodyPr wrap="square">
            <a:spAutoFit/>
          </a:bodyPr>
          <a:lstStyle/>
          <a:p>
            <a:pPr algn="l"/>
            <a:r>
              <a:rPr sz="1000" b="0">
                <a:solidFill>
                  <a:srgbClr val="A855F7"/>
                </a:solidFill>
              </a:rPr>
              <a:t>  + Razorpay payment gateway</a:t>
            </a:r>
          </a:p>
        </p:txBody>
      </p:sp>
      <p:sp>
        <p:nvSpPr>
          <p:cNvPr id="41" name="Rectangle 40"/>
          <p:cNvSpPr/>
          <p:nvPr/>
        </p:nvSpPr>
        <p:spPr>
          <a:xfrm>
            <a:off x="3730752" y="5376672"/>
            <a:ext cx="2157984" cy="356616"/>
          </a:xfrm>
          <a:prstGeom prst="rect">
            <a:avLst/>
          </a:prstGeom>
          <a:solidFill>
            <a:srgbClr val="081022"/>
          </a:solidFill>
          <a:ln w="1016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785616" y="5422392"/>
            <a:ext cx="2057400" cy="310896"/>
          </a:xfrm>
          <a:prstGeom prst="rect">
            <a:avLst/>
          </a:prstGeom>
          <a:noFill/>
        </p:spPr>
        <p:txBody>
          <a:bodyPr wrap="square">
            <a:spAutoFit/>
          </a:bodyPr>
          <a:lstStyle/>
          <a:p>
            <a:pPr algn="l"/>
            <a:r>
              <a:rPr sz="1000" b="0">
                <a:solidFill>
                  <a:srgbClr val="A855F7"/>
                </a:solidFill>
              </a:rPr>
              <a:t>  + Digital leave approval chain</a:t>
            </a:r>
          </a:p>
        </p:txBody>
      </p:sp>
      <p:sp>
        <p:nvSpPr>
          <p:cNvPr id="43" name="Rectangle 42"/>
          <p:cNvSpPr/>
          <p:nvPr/>
        </p:nvSpPr>
        <p:spPr>
          <a:xfrm>
            <a:off x="3730752" y="5788152"/>
            <a:ext cx="2157984" cy="356616"/>
          </a:xfrm>
          <a:prstGeom prst="rect">
            <a:avLst/>
          </a:prstGeom>
          <a:solidFill>
            <a:srgbClr val="081022"/>
          </a:solidFill>
          <a:ln w="1016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785616" y="5833872"/>
            <a:ext cx="2057400" cy="310896"/>
          </a:xfrm>
          <a:prstGeom prst="rect">
            <a:avLst/>
          </a:prstGeom>
          <a:noFill/>
        </p:spPr>
        <p:txBody>
          <a:bodyPr wrap="square">
            <a:spAutoFit/>
          </a:bodyPr>
          <a:lstStyle/>
          <a:p>
            <a:pPr algn="l"/>
            <a:r>
              <a:rPr sz="1000" b="0">
                <a:solidFill>
                  <a:srgbClr val="A855F7"/>
                </a:solidFill>
              </a:rPr>
              <a:t>  + Auto hall ticket generation</a:t>
            </a:r>
          </a:p>
        </p:txBody>
      </p:sp>
      <p:sp>
        <p:nvSpPr>
          <p:cNvPr id="45" name="Rectangle 44"/>
          <p:cNvSpPr/>
          <p:nvPr/>
        </p:nvSpPr>
        <p:spPr>
          <a:xfrm>
            <a:off x="3730752" y="6199631"/>
            <a:ext cx="2157984" cy="356616"/>
          </a:xfrm>
          <a:prstGeom prst="rect">
            <a:avLst/>
          </a:prstGeom>
          <a:solidFill>
            <a:srgbClr val="081022"/>
          </a:solidFill>
          <a:ln w="1016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85616" y="6245352"/>
            <a:ext cx="2057400" cy="310896"/>
          </a:xfrm>
          <a:prstGeom prst="rect">
            <a:avLst/>
          </a:prstGeom>
          <a:noFill/>
        </p:spPr>
        <p:txBody>
          <a:bodyPr wrap="square">
            <a:spAutoFit/>
          </a:bodyPr>
          <a:lstStyle/>
          <a:p>
            <a:pPr algn="l"/>
            <a:r>
              <a:rPr sz="1000" b="0">
                <a:solidFill>
                  <a:srgbClr val="A855F7"/>
                </a:solidFill>
              </a:rPr>
              <a:t>  + Overdue fee alerts &amp; reminders</a:t>
            </a:r>
          </a:p>
        </p:txBody>
      </p:sp>
      <p:sp>
        <p:nvSpPr>
          <p:cNvPr id="47" name="Rectangle 46"/>
          <p:cNvSpPr/>
          <p:nvPr/>
        </p:nvSpPr>
        <p:spPr>
          <a:xfrm>
            <a:off x="6281928" y="4489704"/>
            <a:ext cx="5687568" cy="2176272"/>
          </a:xfrm>
          <a:prstGeom prst="rect">
            <a:avLst/>
          </a:prstGeom>
          <a:solidFill>
            <a:srgbClr val="0C1426"/>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281928" y="4489704"/>
            <a:ext cx="5687568" cy="42062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336792" y="4553712"/>
            <a:ext cx="5577840" cy="329184"/>
          </a:xfrm>
          <a:prstGeom prst="rect">
            <a:avLst/>
          </a:prstGeom>
          <a:noFill/>
        </p:spPr>
        <p:txBody>
          <a:bodyPr wrap="square">
            <a:spAutoFit/>
          </a:bodyPr>
          <a:lstStyle/>
          <a:p>
            <a:pPr algn="l"/>
            <a:r>
              <a:rPr sz="1300" b="1">
                <a:solidFill>
                  <a:srgbClr val="FFFFFF"/>
                </a:solidFill>
              </a:rPr>
              <a:t>  Real-Time Analytics</a:t>
            </a:r>
          </a:p>
        </p:txBody>
      </p:sp>
      <p:sp>
        <p:nvSpPr>
          <p:cNvPr id="50" name="TextBox 49"/>
          <p:cNvSpPr txBox="1"/>
          <p:nvPr/>
        </p:nvSpPr>
        <p:spPr>
          <a:xfrm>
            <a:off x="6428232" y="5001768"/>
            <a:ext cx="3108960" cy="738664"/>
          </a:xfrm>
          <a:prstGeom prst="rect">
            <a:avLst/>
          </a:prstGeom>
          <a:noFill/>
        </p:spPr>
        <p:txBody>
          <a:bodyPr wrap="square">
            <a:spAutoFit/>
          </a:bodyPr>
          <a:lstStyle/>
          <a:p>
            <a:pPr algn="just"/>
            <a:r>
              <a:rPr sz="1050" b="0" dirty="0">
                <a:solidFill>
                  <a:srgbClr val="B0BAD4"/>
                </a:solidFill>
              </a:rPr>
              <a:t>Admins and faculty get live visual dashboards: attendance heatmaps, fee collection rates, batch-wise performance analytics, and defaulter lists — eliminating all manual reporting.</a:t>
            </a:r>
          </a:p>
        </p:txBody>
      </p:sp>
      <p:sp>
        <p:nvSpPr>
          <p:cNvPr id="51" name="Rectangle 50"/>
          <p:cNvSpPr/>
          <p:nvPr/>
        </p:nvSpPr>
        <p:spPr>
          <a:xfrm>
            <a:off x="9646920" y="4965192"/>
            <a:ext cx="2157984" cy="356616"/>
          </a:xfrm>
          <a:prstGeom prst="rect">
            <a:avLst/>
          </a:prstGeom>
          <a:solidFill>
            <a:srgbClr val="081022"/>
          </a:solidFill>
          <a:ln w="1016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701784" y="5010912"/>
            <a:ext cx="2057400" cy="310896"/>
          </a:xfrm>
          <a:prstGeom prst="rect">
            <a:avLst/>
          </a:prstGeom>
          <a:noFill/>
        </p:spPr>
        <p:txBody>
          <a:bodyPr wrap="square">
            <a:spAutoFit/>
          </a:bodyPr>
          <a:lstStyle/>
          <a:p>
            <a:pPr algn="l"/>
            <a:r>
              <a:rPr sz="1000" b="0">
                <a:solidFill>
                  <a:srgbClr val="F5A623"/>
                </a:solidFill>
              </a:rPr>
              <a:t>  + Live fee collection dashboard</a:t>
            </a:r>
          </a:p>
        </p:txBody>
      </p:sp>
      <p:sp>
        <p:nvSpPr>
          <p:cNvPr id="53" name="Rectangle 52"/>
          <p:cNvSpPr/>
          <p:nvPr/>
        </p:nvSpPr>
        <p:spPr>
          <a:xfrm>
            <a:off x="9646920" y="5376672"/>
            <a:ext cx="2157984" cy="356616"/>
          </a:xfrm>
          <a:prstGeom prst="rect">
            <a:avLst/>
          </a:prstGeom>
          <a:solidFill>
            <a:srgbClr val="081022"/>
          </a:solidFill>
          <a:ln w="1016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701784" y="5422392"/>
            <a:ext cx="2057400" cy="310896"/>
          </a:xfrm>
          <a:prstGeom prst="rect">
            <a:avLst/>
          </a:prstGeom>
          <a:noFill/>
        </p:spPr>
        <p:txBody>
          <a:bodyPr wrap="square">
            <a:spAutoFit/>
          </a:bodyPr>
          <a:lstStyle/>
          <a:p>
            <a:pPr algn="l"/>
            <a:r>
              <a:rPr sz="1000" b="0">
                <a:solidFill>
                  <a:srgbClr val="F5A623"/>
                </a:solidFill>
              </a:rPr>
              <a:t>  + Batch attendance heatmaps</a:t>
            </a:r>
          </a:p>
        </p:txBody>
      </p:sp>
      <p:sp>
        <p:nvSpPr>
          <p:cNvPr id="55" name="Rectangle 54"/>
          <p:cNvSpPr/>
          <p:nvPr/>
        </p:nvSpPr>
        <p:spPr>
          <a:xfrm>
            <a:off x="9646920" y="5788152"/>
            <a:ext cx="2157984" cy="356616"/>
          </a:xfrm>
          <a:prstGeom prst="rect">
            <a:avLst/>
          </a:prstGeom>
          <a:solidFill>
            <a:srgbClr val="081022"/>
          </a:solidFill>
          <a:ln w="1016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701784" y="5833872"/>
            <a:ext cx="2057400" cy="310896"/>
          </a:xfrm>
          <a:prstGeom prst="rect">
            <a:avLst/>
          </a:prstGeom>
          <a:noFill/>
        </p:spPr>
        <p:txBody>
          <a:bodyPr wrap="square">
            <a:spAutoFit/>
          </a:bodyPr>
          <a:lstStyle/>
          <a:p>
            <a:pPr algn="l"/>
            <a:r>
              <a:rPr sz="1000" b="0">
                <a:solidFill>
                  <a:srgbClr val="F5A623"/>
                </a:solidFill>
              </a:rPr>
              <a:t>  + Defaulter auto-identification</a:t>
            </a:r>
          </a:p>
        </p:txBody>
      </p:sp>
      <p:sp>
        <p:nvSpPr>
          <p:cNvPr id="57" name="Rectangle 56"/>
          <p:cNvSpPr/>
          <p:nvPr/>
        </p:nvSpPr>
        <p:spPr>
          <a:xfrm>
            <a:off x="9646920" y="6199631"/>
            <a:ext cx="2157984" cy="356616"/>
          </a:xfrm>
          <a:prstGeom prst="rect">
            <a:avLst/>
          </a:prstGeom>
          <a:solidFill>
            <a:srgbClr val="081022"/>
          </a:solidFill>
          <a:ln w="1016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701784" y="6245352"/>
            <a:ext cx="2057400" cy="310896"/>
          </a:xfrm>
          <a:prstGeom prst="rect">
            <a:avLst/>
          </a:prstGeom>
          <a:noFill/>
        </p:spPr>
        <p:txBody>
          <a:bodyPr wrap="square">
            <a:spAutoFit/>
          </a:bodyPr>
          <a:lstStyle/>
          <a:p>
            <a:pPr algn="l"/>
            <a:r>
              <a:rPr sz="1000" b="0">
                <a:solidFill>
                  <a:srgbClr val="F5A623"/>
                </a:solidFill>
              </a:rPr>
              <a:t>  + Performance trend charts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98448"/>
          </a:xfrm>
          <a:prstGeom prst="rect">
            <a:avLst/>
          </a:prstGeom>
          <a:solidFill>
            <a:srgbClr val="0D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094476" cy="64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4476" y="0"/>
            <a:ext cx="6094476"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09728"/>
            <a:ext cx="11430000" cy="685800"/>
          </a:xfrm>
          <a:prstGeom prst="rect">
            <a:avLst/>
          </a:prstGeom>
          <a:noFill/>
        </p:spPr>
        <p:txBody>
          <a:bodyPr wrap="square">
            <a:spAutoFit/>
          </a:bodyPr>
          <a:lstStyle/>
          <a:p>
            <a:pPr algn="l"/>
            <a:r>
              <a:rPr sz="2900" b="1">
                <a:solidFill>
                  <a:srgbClr val="FFFFFF"/>
                </a:solidFill>
              </a:rPr>
              <a:t>Core Platform Features</a:t>
            </a:r>
          </a:p>
        </p:txBody>
      </p:sp>
      <p:sp>
        <p:nvSpPr>
          <p:cNvPr id="6" name="TextBox 5"/>
          <p:cNvSpPr txBox="1"/>
          <p:nvPr/>
        </p:nvSpPr>
        <p:spPr>
          <a:xfrm>
            <a:off x="365760" y="768096"/>
            <a:ext cx="11430000" cy="420624"/>
          </a:xfrm>
          <a:prstGeom prst="rect">
            <a:avLst/>
          </a:prstGeom>
          <a:noFill/>
        </p:spPr>
        <p:txBody>
          <a:bodyPr wrap="square">
            <a:spAutoFit/>
          </a:bodyPr>
          <a:lstStyle/>
          <a:p>
            <a:pPr algn="l"/>
            <a:r>
              <a:rPr sz="1250" b="0">
                <a:solidFill>
                  <a:srgbClr val="B0BAD4"/>
                </a:solidFill>
              </a:rPr>
              <a:t>Six powerful integrated modules covering every aspect of campus life</a:t>
            </a:r>
          </a:p>
        </p:txBody>
      </p:sp>
      <p:sp>
        <p:nvSpPr>
          <p:cNvPr id="7" name="Rectangle 6"/>
          <p:cNvSpPr/>
          <p:nvPr/>
        </p:nvSpPr>
        <p:spPr>
          <a:xfrm>
            <a:off x="365760" y="1225296"/>
            <a:ext cx="2514600" cy="457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880360" y="1225296"/>
            <a:ext cx="2514600"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389888"/>
            <a:ext cx="3767328" cy="2487168"/>
          </a:xfrm>
          <a:prstGeom prst="rect">
            <a:avLst/>
          </a:prstGeom>
          <a:solidFill>
            <a:srgbClr val="0C1426"/>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20040" y="1389888"/>
            <a:ext cx="3767328" cy="40233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9768" y="1463040"/>
            <a:ext cx="3566160" cy="310896"/>
          </a:xfrm>
          <a:prstGeom prst="rect">
            <a:avLst/>
          </a:prstGeom>
          <a:noFill/>
        </p:spPr>
        <p:txBody>
          <a:bodyPr wrap="square">
            <a:spAutoFit/>
          </a:bodyPr>
          <a:lstStyle/>
          <a:p>
            <a:pPr algn="l"/>
            <a:r>
              <a:rPr sz="1200" b="1">
                <a:solidFill>
                  <a:srgbClr val="FFFFFF"/>
                </a:solidFill>
              </a:rPr>
              <a:t>AI Chat Assistant</a:t>
            </a:r>
          </a:p>
        </p:txBody>
      </p:sp>
      <p:sp>
        <p:nvSpPr>
          <p:cNvPr id="12" name="TextBox 11"/>
          <p:cNvSpPr txBox="1"/>
          <p:nvPr/>
        </p:nvSpPr>
        <p:spPr>
          <a:xfrm>
            <a:off x="429768" y="1865376"/>
            <a:ext cx="3566160" cy="707886"/>
          </a:xfrm>
          <a:prstGeom prst="rect">
            <a:avLst/>
          </a:prstGeom>
          <a:noFill/>
        </p:spPr>
        <p:txBody>
          <a:bodyPr wrap="square">
            <a:spAutoFit/>
          </a:bodyPr>
          <a:lstStyle/>
          <a:p>
            <a:pPr algn="just"/>
            <a:r>
              <a:rPr sz="1000" b="0" dirty="0">
                <a:solidFill>
                  <a:srgbClr val="B0BAD4"/>
                </a:solidFill>
              </a:rPr>
              <a:t>Gemini AI chatbot with real-time student profile injection. Answers questions about timetables, exams, fees, hall tickets, syllabus and faculty contacts instantly — personalized to each student.</a:t>
            </a:r>
          </a:p>
        </p:txBody>
      </p:sp>
      <p:sp>
        <p:nvSpPr>
          <p:cNvPr id="13" name="TextBox 12"/>
          <p:cNvSpPr txBox="1"/>
          <p:nvPr/>
        </p:nvSpPr>
        <p:spPr>
          <a:xfrm>
            <a:off x="429768" y="2999232"/>
            <a:ext cx="3566160" cy="201168"/>
          </a:xfrm>
          <a:prstGeom prst="rect">
            <a:avLst/>
          </a:prstGeom>
          <a:noFill/>
        </p:spPr>
        <p:txBody>
          <a:bodyPr wrap="square">
            <a:spAutoFit/>
          </a:bodyPr>
          <a:lstStyle/>
          <a:p>
            <a:pPr algn="l"/>
            <a:r>
              <a:rPr sz="950" b="0">
                <a:solidFill>
                  <a:srgbClr val="6366F1"/>
                </a:solidFill>
              </a:rPr>
              <a:t>  + Context-aware AI responses</a:t>
            </a:r>
          </a:p>
        </p:txBody>
      </p:sp>
      <p:sp>
        <p:nvSpPr>
          <p:cNvPr id="14" name="TextBox 13"/>
          <p:cNvSpPr txBox="1"/>
          <p:nvPr/>
        </p:nvSpPr>
        <p:spPr>
          <a:xfrm>
            <a:off x="429768" y="3200400"/>
            <a:ext cx="3566160" cy="201168"/>
          </a:xfrm>
          <a:prstGeom prst="rect">
            <a:avLst/>
          </a:prstGeom>
          <a:noFill/>
        </p:spPr>
        <p:txBody>
          <a:bodyPr wrap="square">
            <a:spAutoFit/>
          </a:bodyPr>
          <a:lstStyle/>
          <a:p>
            <a:pPr algn="l"/>
            <a:r>
              <a:rPr sz="950" b="0" dirty="0">
                <a:solidFill>
                  <a:srgbClr val="6366F1"/>
                </a:solidFill>
              </a:rPr>
              <a:t>  + Profile-injected prompts</a:t>
            </a:r>
          </a:p>
        </p:txBody>
      </p:sp>
      <p:sp>
        <p:nvSpPr>
          <p:cNvPr id="15" name="TextBox 14"/>
          <p:cNvSpPr txBox="1"/>
          <p:nvPr/>
        </p:nvSpPr>
        <p:spPr>
          <a:xfrm>
            <a:off x="429768" y="3401568"/>
            <a:ext cx="3566160" cy="201168"/>
          </a:xfrm>
          <a:prstGeom prst="rect">
            <a:avLst/>
          </a:prstGeom>
          <a:noFill/>
        </p:spPr>
        <p:txBody>
          <a:bodyPr wrap="square">
            <a:spAutoFit/>
          </a:bodyPr>
          <a:lstStyle/>
          <a:p>
            <a:pPr algn="l"/>
            <a:r>
              <a:rPr sz="950" b="0" dirty="0">
                <a:solidFill>
                  <a:srgbClr val="6366F1"/>
                </a:solidFill>
              </a:rPr>
              <a:t>  + Streaming chat UI</a:t>
            </a:r>
          </a:p>
        </p:txBody>
      </p:sp>
      <p:sp>
        <p:nvSpPr>
          <p:cNvPr id="16" name="TextBox 15"/>
          <p:cNvSpPr txBox="1"/>
          <p:nvPr/>
        </p:nvSpPr>
        <p:spPr>
          <a:xfrm>
            <a:off x="429768" y="3602736"/>
            <a:ext cx="3566160" cy="201168"/>
          </a:xfrm>
          <a:prstGeom prst="rect">
            <a:avLst/>
          </a:prstGeom>
          <a:noFill/>
        </p:spPr>
        <p:txBody>
          <a:bodyPr wrap="square">
            <a:spAutoFit/>
          </a:bodyPr>
          <a:lstStyle/>
          <a:p>
            <a:pPr algn="l"/>
            <a:r>
              <a:rPr sz="950" b="0" dirty="0">
                <a:solidFill>
                  <a:srgbClr val="6366F1"/>
                </a:solidFill>
              </a:rPr>
              <a:t>  + Fallback demo mode</a:t>
            </a:r>
          </a:p>
        </p:txBody>
      </p:sp>
      <p:sp>
        <p:nvSpPr>
          <p:cNvPr id="17" name="Rectangle 16"/>
          <p:cNvSpPr/>
          <p:nvPr/>
        </p:nvSpPr>
        <p:spPr>
          <a:xfrm>
            <a:off x="4297679" y="1389888"/>
            <a:ext cx="3767328" cy="2487168"/>
          </a:xfrm>
          <a:prstGeom prst="rect">
            <a:avLst/>
          </a:prstGeom>
          <a:solidFill>
            <a:srgbClr val="0C142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297679" y="1389888"/>
            <a:ext cx="3767328" cy="40233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07407" y="1463040"/>
            <a:ext cx="3566160" cy="310896"/>
          </a:xfrm>
          <a:prstGeom prst="rect">
            <a:avLst/>
          </a:prstGeom>
          <a:noFill/>
        </p:spPr>
        <p:txBody>
          <a:bodyPr wrap="square">
            <a:spAutoFit/>
          </a:bodyPr>
          <a:lstStyle/>
          <a:p>
            <a:pPr algn="l"/>
            <a:r>
              <a:rPr sz="1200" b="1">
                <a:solidFill>
                  <a:srgbClr val="FFFFFF"/>
                </a:solidFill>
              </a:rPr>
              <a:t>Fee Management</a:t>
            </a:r>
          </a:p>
        </p:txBody>
      </p:sp>
      <p:sp>
        <p:nvSpPr>
          <p:cNvPr id="20" name="TextBox 19"/>
          <p:cNvSpPr txBox="1"/>
          <p:nvPr/>
        </p:nvSpPr>
        <p:spPr>
          <a:xfrm>
            <a:off x="4407407" y="1865376"/>
            <a:ext cx="3566160" cy="707886"/>
          </a:xfrm>
          <a:prstGeom prst="rect">
            <a:avLst/>
          </a:prstGeom>
          <a:noFill/>
        </p:spPr>
        <p:txBody>
          <a:bodyPr wrap="square">
            <a:spAutoFit/>
          </a:bodyPr>
          <a:lstStyle/>
          <a:p>
            <a:pPr algn="just"/>
            <a:r>
              <a:rPr sz="1000" b="0" dirty="0">
                <a:solidFill>
                  <a:srgbClr val="B0BAD4"/>
                </a:solidFill>
              </a:rPr>
              <a:t>Complete fee lifecycle management — tuition breakdowns, payment history, </a:t>
            </a:r>
            <a:r>
              <a:rPr sz="1000" b="0" dirty="0" err="1">
                <a:solidFill>
                  <a:srgbClr val="B0BAD4"/>
                </a:solidFill>
              </a:rPr>
              <a:t>Razorpay</a:t>
            </a:r>
            <a:r>
              <a:rPr sz="1000" b="0" dirty="0">
                <a:solidFill>
                  <a:srgbClr val="B0BAD4"/>
                </a:solidFill>
              </a:rPr>
              <a:t> integration, overdue detection and alerts, and admin defaulter dashboard with batch-wise analytics and CSV export.</a:t>
            </a:r>
          </a:p>
        </p:txBody>
      </p:sp>
      <p:sp>
        <p:nvSpPr>
          <p:cNvPr id="21" name="TextBox 20"/>
          <p:cNvSpPr txBox="1"/>
          <p:nvPr/>
        </p:nvSpPr>
        <p:spPr>
          <a:xfrm>
            <a:off x="4407407" y="2999232"/>
            <a:ext cx="3566160" cy="201168"/>
          </a:xfrm>
          <a:prstGeom prst="rect">
            <a:avLst/>
          </a:prstGeom>
          <a:noFill/>
        </p:spPr>
        <p:txBody>
          <a:bodyPr wrap="square">
            <a:spAutoFit/>
          </a:bodyPr>
          <a:lstStyle/>
          <a:p>
            <a:pPr algn="l"/>
            <a:r>
              <a:rPr sz="950" b="0">
                <a:solidFill>
                  <a:srgbClr val="06B6D4"/>
                </a:solidFill>
              </a:rPr>
              <a:t>  + Razorpay gateway integration</a:t>
            </a:r>
          </a:p>
        </p:txBody>
      </p:sp>
      <p:sp>
        <p:nvSpPr>
          <p:cNvPr id="22" name="TextBox 21"/>
          <p:cNvSpPr txBox="1"/>
          <p:nvPr/>
        </p:nvSpPr>
        <p:spPr>
          <a:xfrm>
            <a:off x="4407407" y="3200400"/>
            <a:ext cx="3566160" cy="201168"/>
          </a:xfrm>
          <a:prstGeom prst="rect">
            <a:avLst/>
          </a:prstGeom>
          <a:noFill/>
        </p:spPr>
        <p:txBody>
          <a:bodyPr wrap="square">
            <a:spAutoFit/>
          </a:bodyPr>
          <a:lstStyle/>
          <a:p>
            <a:pPr algn="l"/>
            <a:r>
              <a:rPr sz="950" b="0">
                <a:solidFill>
                  <a:srgbClr val="06B6D4"/>
                </a:solidFill>
              </a:rPr>
              <a:t>  + Fee breakdown by category</a:t>
            </a:r>
          </a:p>
        </p:txBody>
      </p:sp>
      <p:sp>
        <p:nvSpPr>
          <p:cNvPr id="23" name="TextBox 22"/>
          <p:cNvSpPr txBox="1"/>
          <p:nvPr/>
        </p:nvSpPr>
        <p:spPr>
          <a:xfrm>
            <a:off x="4407407" y="3401568"/>
            <a:ext cx="3566160" cy="201168"/>
          </a:xfrm>
          <a:prstGeom prst="rect">
            <a:avLst/>
          </a:prstGeom>
          <a:noFill/>
        </p:spPr>
        <p:txBody>
          <a:bodyPr wrap="square">
            <a:spAutoFit/>
          </a:bodyPr>
          <a:lstStyle/>
          <a:p>
            <a:pPr algn="l"/>
            <a:r>
              <a:rPr sz="950" b="0">
                <a:solidFill>
                  <a:srgbClr val="06B6D4"/>
                </a:solidFill>
              </a:rPr>
              <a:t>  + Overdue auto-detection</a:t>
            </a:r>
          </a:p>
        </p:txBody>
      </p:sp>
      <p:sp>
        <p:nvSpPr>
          <p:cNvPr id="24" name="TextBox 23"/>
          <p:cNvSpPr txBox="1"/>
          <p:nvPr/>
        </p:nvSpPr>
        <p:spPr>
          <a:xfrm>
            <a:off x="4407407" y="3602736"/>
            <a:ext cx="3566160" cy="201168"/>
          </a:xfrm>
          <a:prstGeom prst="rect">
            <a:avLst/>
          </a:prstGeom>
          <a:noFill/>
        </p:spPr>
        <p:txBody>
          <a:bodyPr wrap="square">
            <a:spAutoFit/>
          </a:bodyPr>
          <a:lstStyle/>
          <a:p>
            <a:pPr algn="l"/>
            <a:r>
              <a:rPr sz="950" b="0">
                <a:solidFill>
                  <a:srgbClr val="06B6D4"/>
                </a:solidFill>
              </a:rPr>
              <a:t>  + Admin defaulter tracking</a:t>
            </a:r>
          </a:p>
        </p:txBody>
      </p:sp>
      <p:sp>
        <p:nvSpPr>
          <p:cNvPr id="25" name="Rectangle 24"/>
          <p:cNvSpPr/>
          <p:nvPr/>
        </p:nvSpPr>
        <p:spPr>
          <a:xfrm>
            <a:off x="8275319" y="1389888"/>
            <a:ext cx="3767328" cy="2487168"/>
          </a:xfrm>
          <a:prstGeom prst="rect">
            <a:avLst/>
          </a:prstGeom>
          <a:solidFill>
            <a:srgbClr val="0C1426"/>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275319" y="1389888"/>
            <a:ext cx="3767328" cy="402336"/>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85047" y="1463040"/>
            <a:ext cx="3566160" cy="310896"/>
          </a:xfrm>
          <a:prstGeom prst="rect">
            <a:avLst/>
          </a:prstGeom>
          <a:noFill/>
        </p:spPr>
        <p:txBody>
          <a:bodyPr wrap="square">
            <a:spAutoFit/>
          </a:bodyPr>
          <a:lstStyle/>
          <a:p>
            <a:pPr algn="l"/>
            <a:r>
              <a:rPr sz="1200" b="1">
                <a:solidFill>
                  <a:srgbClr val="FFFFFF"/>
                </a:solidFill>
              </a:rPr>
              <a:t>Exam &amp; Hall Ticket Hub</a:t>
            </a:r>
          </a:p>
        </p:txBody>
      </p:sp>
      <p:sp>
        <p:nvSpPr>
          <p:cNvPr id="28" name="TextBox 27"/>
          <p:cNvSpPr txBox="1"/>
          <p:nvPr/>
        </p:nvSpPr>
        <p:spPr>
          <a:xfrm>
            <a:off x="8385047" y="1865376"/>
            <a:ext cx="3566160" cy="553998"/>
          </a:xfrm>
          <a:prstGeom prst="rect">
            <a:avLst/>
          </a:prstGeom>
          <a:noFill/>
        </p:spPr>
        <p:txBody>
          <a:bodyPr wrap="square">
            <a:spAutoFit/>
          </a:bodyPr>
          <a:lstStyle/>
          <a:p>
            <a:pPr algn="just"/>
            <a:r>
              <a:rPr sz="1000" b="0" dirty="0">
                <a:solidFill>
                  <a:srgbClr val="B0BAD4"/>
                </a:solidFill>
              </a:rPr>
              <a:t>Automated hall ticket generation with student info, exam </a:t>
            </a:r>
            <a:r>
              <a:rPr sz="1000" b="0" dirty="0" err="1">
                <a:solidFill>
                  <a:srgbClr val="B0BAD4"/>
                </a:solidFill>
              </a:rPr>
              <a:t>centre</a:t>
            </a:r>
            <a:r>
              <a:rPr sz="1000" b="0" dirty="0">
                <a:solidFill>
                  <a:srgbClr val="B0BAD4"/>
                </a:solidFill>
              </a:rPr>
              <a:t>, and seating. Digital exam timetable, SGPA/CGPA history viewer, internal marks tracker with risk-level color flags.</a:t>
            </a:r>
          </a:p>
        </p:txBody>
      </p:sp>
      <p:sp>
        <p:nvSpPr>
          <p:cNvPr id="29" name="TextBox 28"/>
          <p:cNvSpPr txBox="1"/>
          <p:nvPr/>
        </p:nvSpPr>
        <p:spPr>
          <a:xfrm>
            <a:off x="8385047" y="2999232"/>
            <a:ext cx="3566160" cy="201168"/>
          </a:xfrm>
          <a:prstGeom prst="rect">
            <a:avLst/>
          </a:prstGeom>
          <a:noFill/>
        </p:spPr>
        <p:txBody>
          <a:bodyPr wrap="square">
            <a:spAutoFit/>
          </a:bodyPr>
          <a:lstStyle/>
          <a:p>
            <a:pPr algn="l"/>
            <a:r>
              <a:rPr sz="950" b="0">
                <a:solidFill>
                  <a:srgbClr val="A855F7"/>
                </a:solidFill>
              </a:rPr>
              <a:t>  + Auto hall ticket generation</a:t>
            </a:r>
          </a:p>
        </p:txBody>
      </p:sp>
      <p:sp>
        <p:nvSpPr>
          <p:cNvPr id="30" name="TextBox 29"/>
          <p:cNvSpPr txBox="1"/>
          <p:nvPr/>
        </p:nvSpPr>
        <p:spPr>
          <a:xfrm>
            <a:off x="8385047" y="3200400"/>
            <a:ext cx="3566160" cy="201168"/>
          </a:xfrm>
          <a:prstGeom prst="rect">
            <a:avLst/>
          </a:prstGeom>
          <a:noFill/>
        </p:spPr>
        <p:txBody>
          <a:bodyPr wrap="square">
            <a:spAutoFit/>
          </a:bodyPr>
          <a:lstStyle/>
          <a:p>
            <a:pPr algn="l"/>
            <a:r>
              <a:rPr sz="950" b="0">
                <a:solidFill>
                  <a:srgbClr val="A855F7"/>
                </a:solidFill>
              </a:rPr>
              <a:t>  + Subject-wise exam timetable</a:t>
            </a:r>
          </a:p>
        </p:txBody>
      </p:sp>
      <p:sp>
        <p:nvSpPr>
          <p:cNvPr id="31" name="TextBox 30"/>
          <p:cNvSpPr txBox="1"/>
          <p:nvPr/>
        </p:nvSpPr>
        <p:spPr>
          <a:xfrm>
            <a:off x="8385047" y="3401568"/>
            <a:ext cx="3566160" cy="201168"/>
          </a:xfrm>
          <a:prstGeom prst="rect">
            <a:avLst/>
          </a:prstGeom>
          <a:noFill/>
        </p:spPr>
        <p:txBody>
          <a:bodyPr wrap="square">
            <a:spAutoFit/>
          </a:bodyPr>
          <a:lstStyle/>
          <a:p>
            <a:pPr algn="l"/>
            <a:r>
              <a:rPr sz="950" b="0">
                <a:solidFill>
                  <a:srgbClr val="A855F7"/>
                </a:solidFill>
              </a:rPr>
              <a:t>  + Grade &amp; CGPA history</a:t>
            </a:r>
          </a:p>
        </p:txBody>
      </p:sp>
      <p:sp>
        <p:nvSpPr>
          <p:cNvPr id="32" name="TextBox 31"/>
          <p:cNvSpPr txBox="1"/>
          <p:nvPr/>
        </p:nvSpPr>
        <p:spPr>
          <a:xfrm>
            <a:off x="8385047" y="3602736"/>
            <a:ext cx="3566160" cy="201168"/>
          </a:xfrm>
          <a:prstGeom prst="rect">
            <a:avLst/>
          </a:prstGeom>
          <a:noFill/>
        </p:spPr>
        <p:txBody>
          <a:bodyPr wrap="square">
            <a:spAutoFit/>
          </a:bodyPr>
          <a:lstStyle/>
          <a:p>
            <a:pPr algn="l"/>
            <a:r>
              <a:rPr sz="950" b="0">
                <a:solidFill>
                  <a:srgbClr val="A855F7"/>
                </a:solidFill>
              </a:rPr>
              <a:t>  + Internal marks risk flags</a:t>
            </a:r>
          </a:p>
        </p:txBody>
      </p:sp>
      <p:sp>
        <p:nvSpPr>
          <p:cNvPr id="33" name="Rectangle 32"/>
          <p:cNvSpPr/>
          <p:nvPr/>
        </p:nvSpPr>
        <p:spPr>
          <a:xfrm>
            <a:off x="320040" y="4041648"/>
            <a:ext cx="3767328" cy="2487168"/>
          </a:xfrm>
          <a:prstGeom prst="rect">
            <a:avLst/>
          </a:prstGeom>
          <a:solidFill>
            <a:srgbClr val="0C1426"/>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20040" y="4041648"/>
            <a:ext cx="3767328" cy="402336"/>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29768" y="4114800"/>
            <a:ext cx="3566160" cy="310896"/>
          </a:xfrm>
          <a:prstGeom prst="rect">
            <a:avLst/>
          </a:prstGeom>
          <a:noFill/>
        </p:spPr>
        <p:txBody>
          <a:bodyPr wrap="square">
            <a:spAutoFit/>
          </a:bodyPr>
          <a:lstStyle/>
          <a:p>
            <a:pPr algn="l"/>
            <a:r>
              <a:rPr sz="1200" b="1">
                <a:solidFill>
                  <a:srgbClr val="FFFFFF"/>
                </a:solidFill>
              </a:rPr>
              <a:t>Leave Management</a:t>
            </a:r>
          </a:p>
        </p:txBody>
      </p:sp>
      <p:sp>
        <p:nvSpPr>
          <p:cNvPr id="36" name="TextBox 35"/>
          <p:cNvSpPr txBox="1"/>
          <p:nvPr/>
        </p:nvSpPr>
        <p:spPr>
          <a:xfrm>
            <a:off x="429768" y="4517136"/>
            <a:ext cx="3566160" cy="707886"/>
          </a:xfrm>
          <a:prstGeom prst="rect">
            <a:avLst/>
          </a:prstGeom>
          <a:noFill/>
        </p:spPr>
        <p:txBody>
          <a:bodyPr wrap="square">
            <a:spAutoFit/>
          </a:bodyPr>
          <a:lstStyle/>
          <a:p>
            <a:pPr algn="just"/>
            <a:r>
              <a:rPr sz="1000" b="0" dirty="0">
                <a:solidFill>
                  <a:srgbClr val="B0BAD4"/>
                </a:solidFill>
              </a:rPr>
              <a:t>End-to-end paperless leave workflow. Students apply online with reason and dates. Faculty review and approve/reject with remarks. Auto balance deduction and </a:t>
            </a:r>
            <a:r>
              <a:rPr sz="1000" b="0" dirty="0" err="1">
                <a:solidFill>
                  <a:srgbClr val="B0BAD4"/>
                </a:solidFill>
              </a:rPr>
              <a:t>HoD</a:t>
            </a:r>
            <a:r>
              <a:rPr sz="1000" b="0" dirty="0">
                <a:solidFill>
                  <a:srgbClr val="B0BAD4"/>
                </a:solidFill>
              </a:rPr>
              <a:t> escalation for critical cases.</a:t>
            </a:r>
          </a:p>
        </p:txBody>
      </p:sp>
      <p:sp>
        <p:nvSpPr>
          <p:cNvPr id="37" name="TextBox 36"/>
          <p:cNvSpPr txBox="1"/>
          <p:nvPr/>
        </p:nvSpPr>
        <p:spPr>
          <a:xfrm>
            <a:off x="429768" y="5650992"/>
            <a:ext cx="3566160" cy="201168"/>
          </a:xfrm>
          <a:prstGeom prst="rect">
            <a:avLst/>
          </a:prstGeom>
          <a:noFill/>
        </p:spPr>
        <p:txBody>
          <a:bodyPr wrap="square">
            <a:spAutoFit/>
          </a:bodyPr>
          <a:lstStyle/>
          <a:p>
            <a:pPr algn="l"/>
            <a:r>
              <a:rPr sz="950" b="0">
                <a:solidFill>
                  <a:srgbClr val="F5A623"/>
                </a:solidFill>
              </a:rPr>
              <a:t>  + Online leave application</a:t>
            </a:r>
          </a:p>
        </p:txBody>
      </p:sp>
      <p:sp>
        <p:nvSpPr>
          <p:cNvPr id="38" name="TextBox 37"/>
          <p:cNvSpPr txBox="1"/>
          <p:nvPr/>
        </p:nvSpPr>
        <p:spPr>
          <a:xfrm>
            <a:off x="429768" y="5852159"/>
            <a:ext cx="3566160" cy="201168"/>
          </a:xfrm>
          <a:prstGeom prst="rect">
            <a:avLst/>
          </a:prstGeom>
          <a:noFill/>
        </p:spPr>
        <p:txBody>
          <a:bodyPr wrap="square">
            <a:spAutoFit/>
          </a:bodyPr>
          <a:lstStyle/>
          <a:p>
            <a:pPr algn="l"/>
            <a:r>
              <a:rPr sz="950" b="0">
                <a:solidFill>
                  <a:srgbClr val="F5A623"/>
                </a:solidFill>
              </a:rPr>
              <a:t>  + Faculty approval workflow</a:t>
            </a:r>
          </a:p>
        </p:txBody>
      </p:sp>
      <p:sp>
        <p:nvSpPr>
          <p:cNvPr id="39" name="TextBox 38"/>
          <p:cNvSpPr txBox="1"/>
          <p:nvPr/>
        </p:nvSpPr>
        <p:spPr>
          <a:xfrm>
            <a:off x="429768" y="6053328"/>
            <a:ext cx="3566160" cy="201168"/>
          </a:xfrm>
          <a:prstGeom prst="rect">
            <a:avLst/>
          </a:prstGeom>
          <a:noFill/>
        </p:spPr>
        <p:txBody>
          <a:bodyPr wrap="square">
            <a:spAutoFit/>
          </a:bodyPr>
          <a:lstStyle/>
          <a:p>
            <a:pPr algn="l"/>
            <a:r>
              <a:rPr sz="950" b="0">
                <a:solidFill>
                  <a:srgbClr val="F5A623"/>
                </a:solidFill>
              </a:rPr>
              <a:t>  + Auto balance tracking</a:t>
            </a:r>
          </a:p>
        </p:txBody>
      </p:sp>
      <p:sp>
        <p:nvSpPr>
          <p:cNvPr id="40" name="TextBox 39"/>
          <p:cNvSpPr txBox="1"/>
          <p:nvPr/>
        </p:nvSpPr>
        <p:spPr>
          <a:xfrm>
            <a:off x="429768" y="6254496"/>
            <a:ext cx="3566160" cy="201168"/>
          </a:xfrm>
          <a:prstGeom prst="rect">
            <a:avLst/>
          </a:prstGeom>
          <a:noFill/>
        </p:spPr>
        <p:txBody>
          <a:bodyPr wrap="square">
            <a:spAutoFit/>
          </a:bodyPr>
          <a:lstStyle/>
          <a:p>
            <a:pPr algn="l"/>
            <a:r>
              <a:rPr sz="950" b="0">
                <a:solidFill>
                  <a:srgbClr val="F5A623"/>
                </a:solidFill>
              </a:rPr>
              <a:t>  + HoD escalation support</a:t>
            </a:r>
          </a:p>
        </p:txBody>
      </p:sp>
      <p:sp>
        <p:nvSpPr>
          <p:cNvPr id="41" name="Rectangle 40"/>
          <p:cNvSpPr/>
          <p:nvPr/>
        </p:nvSpPr>
        <p:spPr>
          <a:xfrm>
            <a:off x="4297679" y="4041648"/>
            <a:ext cx="3767328" cy="2487168"/>
          </a:xfrm>
          <a:prstGeom prst="rect">
            <a:avLst/>
          </a:prstGeom>
          <a:solidFill>
            <a:srgbClr val="0C1426"/>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297679" y="4041648"/>
            <a:ext cx="3767328" cy="402336"/>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07407" y="4114800"/>
            <a:ext cx="3566160" cy="310896"/>
          </a:xfrm>
          <a:prstGeom prst="rect">
            <a:avLst/>
          </a:prstGeom>
          <a:noFill/>
        </p:spPr>
        <p:txBody>
          <a:bodyPr wrap="square">
            <a:spAutoFit/>
          </a:bodyPr>
          <a:lstStyle/>
          <a:p>
            <a:pPr algn="l"/>
            <a:r>
              <a:rPr sz="1200" b="1">
                <a:solidFill>
                  <a:srgbClr val="FFFFFF"/>
                </a:solidFill>
              </a:rPr>
              <a:t>Digital Notice Board</a:t>
            </a:r>
          </a:p>
        </p:txBody>
      </p:sp>
      <p:sp>
        <p:nvSpPr>
          <p:cNvPr id="44" name="TextBox 43"/>
          <p:cNvSpPr txBox="1"/>
          <p:nvPr/>
        </p:nvSpPr>
        <p:spPr>
          <a:xfrm>
            <a:off x="4407407" y="4517136"/>
            <a:ext cx="3566160" cy="707886"/>
          </a:xfrm>
          <a:prstGeom prst="rect">
            <a:avLst/>
          </a:prstGeom>
          <a:noFill/>
        </p:spPr>
        <p:txBody>
          <a:bodyPr wrap="square">
            <a:spAutoFit/>
          </a:bodyPr>
          <a:lstStyle/>
          <a:p>
            <a:pPr algn="just"/>
            <a:r>
              <a:rPr sz="1000" b="0" dirty="0">
                <a:solidFill>
                  <a:srgbClr val="B0BAD4"/>
                </a:solidFill>
              </a:rPr>
              <a:t>Centralized campus notice board with urgency-tagged announcements across 6 categories: Academic, Exam, Cultural, Sports, Urgent, and Placement. Search, filter, pin and expand notices.</a:t>
            </a:r>
          </a:p>
        </p:txBody>
      </p:sp>
      <p:sp>
        <p:nvSpPr>
          <p:cNvPr id="45" name="TextBox 44"/>
          <p:cNvSpPr txBox="1"/>
          <p:nvPr/>
        </p:nvSpPr>
        <p:spPr>
          <a:xfrm>
            <a:off x="4407407" y="5650992"/>
            <a:ext cx="3566160" cy="201168"/>
          </a:xfrm>
          <a:prstGeom prst="rect">
            <a:avLst/>
          </a:prstGeom>
          <a:noFill/>
        </p:spPr>
        <p:txBody>
          <a:bodyPr wrap="square">
            <a:spAutoFit/>
          </a:bodyPr>
          <a:lstStyle/>
          <a:p>
            <a:pPr algn="l"/>
            <a:r>
              <a:rPr sz="950" b="0">
                <a:solidFill>
                  <a:srgbClr val="22C55E"/>
                </a:solidFill>
              </a:rPr>
              <a:t>  + 6 notice categories</a:t>
            </a:r>
          </a:p>
        </p:txBody>
      </p:sp>
      <p:sp>
        <p:nvSpPr>
          <p:cNvPr id="46" name="TextBox 45"/>
          <p:cNvSpPr txBox="1"/>
          <p:nvPr/>
        </p:nvSpPr>
        <p:spPr>
          <a:xfrm>
            <a:off x="4407407" y="5852159"/>
            <a:ext cx="3566160" cy="201168"/>
          </a:xfrm>
          <a:prstGeom prst="rect">
            <a:avLst/>
          </a:prstGeom>
          <a:noFill/>
        </p:spPr>
        <p:txBody>
          <a:bodyPr wrap="square">
            <a:spAutoFit/>
          </a:bodyPr>
          <a:lstStyle/>
          <a:p>
            <a:pPr algn="l"/>
            <a:r>
              <a:rPr sz="950" b="0">
                <a:solidFill>
                  <a:srgbClr val="22C55E"/>
                </a:solidFill>
              </a:rPr>
              <a:t>  + Urgency color-coding</a:t>
            </a:r>
          </a:p>
        </p:txBody>
      </p:sp>
      <p:sp>
        <p:nvSpPr>
          <p:cNvPr id="47" name="TextBox 46"/>
          <p:cNvSpPr txBox="1"/>
          <p:nvPr/>
        </p:nvSpPr>
        <p:spPr>
          <a:xfrm>
            <a:off x="4407407" y="6053328"/>
            <a:ext cx="3566160" cy="201168"/>
          </a:xfrm>
          <a:prstGeom prst="rect">
            <a:avLst/>
          </a:prstGeom>
          <a:noFill/>
        </p:spPr>
        <p:txBody>
          <a:bodyPr wrap="square">
            <a:spAutoFit/>
          </a:bodyPr>
          <a:lstStyle/>
          <a:p>
            <a:pPr algn="l"/>
            <a:r>
              <a:rPr sz="950" b="0">
                <a:solidFill>
                  <a:srgbClr val="22C55E"/>
                </a:solidFill>
              </a:rPr>
              <a:t>  + Search and filter</a:t>
            </a:r>
          </a:p>
        </p:txBody>
      </p:sp>
      <p:sp>
        <p:nvSpPr>
          <p:cNvPr id="48" name="TextBox 47"/>
          <p:cNvSpPr txBox="1"/>
          <p:nvPr/>
        </p:nvSpPr>
        <p:spPr>
          <a:xfrm>
            <a:off x="4407407" y="6254496"/>
            <a:ext cx="3566160" cy="201168"/>
          </a:xfrm>
          <a:prstGeom prst="rect">
            <a:avLst/>
          </a:prstGeom>
          <a:noFill/>
        </p:spPr>
        <p:txBody>
          <a:bodyPr wrap="square">
            <a:spAutoFit/>
          </a:bodyPr>
          <a:lstStyle/>
          <a:p>
            <a:pPr algn="l"/>
            <a:r>
              <a:rPr sz="950" b="0">
                <a:solidFill>
                  <a:srgbClr val="22C55E"/>
                </a:solidFill>
              </a:rPr>
              <a:t>  + Pin critical notices</a:t>
            </a:r>
          </a:p>
        </p:txBody>
      </p:sp>
      <p:sp>
        <p:nvSpPr>
          <p:cNvPr id="49" name="Rectangle 48"/>
          <p:cNvSpPr/>
          <p:nvPr/>
        </p:nvSpPr>
        <p:spPr>
          <a:xfrm>
            <a:off x="8275319" y="4041648"/>
            <a:ext cx="3767328" cy="2487168"/>
          </a:xfrm>
          <a:prstGeom prst="rect">
            <a:avLst/>
          </a:prstGeom>
          <a:solidFill>
            <a:srgbClr val="0C142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8275319" y="4041648"/>
            <a:ext cx="3767328" cy="40233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385047" y="4114800"/>
            <a:ext cx="3566160" cy="310896"/>
          </a:xfrm>
          <a:prstGeom prst="rect">
            <a:avLst/>
          </a:prstGeom>
          <a:noFill/>
        </p:spPr>
        <p:txBody>
          <a:bodyPr wrap="square">
            <a:spAutoFit/>
          </a:bodyPr>
          <a:lstStyle/>
          <a:p>
            <a:pPr algn="l"/>
            <a:r>
              <a:rPr sz="1200" b="1">
                <a:solidFill>
                  <a:srgbClr val="FFFFFF"/>
                </a:solidFill>
              </a:rPr>
              <a:t>Community Forum</a:t>
            </a:r>
          </a:p>
        </p:txBody>
      </p:sp>
      <p:sp>
        <p:nvSpPr>
          <p:cNvPr id="52" name="TextBox 51"/>
          <p:cNvSpPr txBox="1"/>
          <p:nvPr/>
        </p:nvSpPr>
        <p:spPr>
          <a:xfrm>
            <a:off x="8385047" y="4517136"/>
            <a:ext cx="3566160" cy="707886"/>
          </a:xfrm>
          <a:prstGeom prst="rect">
            <a:avLst/>
          </a:prstGeom>
          <a:noFill/>
        </p:spPr>
        <p:txBody>
          <a:bodyPr wrap="square">
            <a:spAutoFit/>
          </a:bodyPr>
          <a:lstStyle/>
          <a:p>
            <a:pPr algn="just"/>
            <a:r>
              <a:rPr sz="1000" b="0" dirty="0">
                <a:solidFill>
                  <a:srgbClr val="B0BAD4"/>
                </a:solidFill>
              </a:rPr>
              <a:t>Department-specific discussion channels connecting students and faculty. Ask questions, share study resources, react to posts, and build a collaborative academic community within the campus.</a:t>
            </a:r>
          </a:p>
        </p:txBody>
      </p:sp>
      <p:sp>
        <p:nvSpPr>
          <p:cNvPr id="53" name="TextBox 52"/>
          <p:cNvSpPr txBox="1"/>
          <p:nvPr/>
        </p:nvSpPr>
        <p:spPr>
          <a:xfrm>
            <a:off x="8385047" y="5650992"/>
            <a:ext cx="3566160" cy="201168"/>
          </a:xfrm>
          <a:prstGeom prst="rect">
            <a:avLst/>
          </a:prstGeom>
          <a:noFill/>
        </p:spPr>
        <p:txBody>
          <a:bodyPr wrap="square">
            <a:spAutoFit/>
          </a:bodyPr>
          <a:lstStyle/>
          <a:p>
            <a:pPr algn="l"/>
            <a:r>
              <a:rPr sz="950" b="0">
                <a:solidFill>
                  <a:srgbClr val="EF4444"/>
                </a:solidFill>
              </a:rPr>
              <a:t>  + Department channels</a:t>
            </a:r>
          </a:p>
        </p:txBody>
      </p:sp>
      <p:sp>
        <p:nvSpPr>
          <p:cNvPr id="54" name="TextBox 53"/>
          <p:cNvSpPr txBox="1"/>
          <p:nvPr/>
        </p:nvSpPr>
        <p:spPr>
          <a:xfrm>
            <a:off x="8385047" y="5852159"/>
            <a:ext cx="3566160" cy="201168"/>
          </a:xfrm>
          <a:prstGeom prst="rect">
            <a:avLst/>
          </a:prstGeom>
          <a:noFill/>
        </p:spPr>
        <p:txBody>
          <a:bodyPr wrap="square">
            <a:spAutoFit/>
          </a:bodyPr>
          <a:lstStyle/>
          <a:p>
            <a:pPr algn="l"/>
            <a:r>
              <a:rPr sz="950" b="0">
                <a:solidFill>
                  <a:srgbClr val="EF4444"/>
                </a:solidFill>
              </a:rPr>
              <a:t>  + Peer Q&amp;A discussions</a:t>
            </a:r>
          </a:p>
        </p:txBody>
      </p:sp>
      <p:sp>
        <p:nvSpPr>
          <p:cNvPr id="55" name="TextBox 54"/>
          <p:cNvSpPr txBox="1"/>
          <p:nvPr/>
        </p:nvSpPr>
        <p:spPr>
          <a:xfrm>
            <a:off x="8385047" y="6053328"/>
            <a:ext cx="3566160" cy="201168"/>
          </a:xfrm>
          <a:prstGeom prst="rect">
            <a:avLst/>
          </a:prstGeom>
          <a:noFill/>
        </p:spPr>
        <p:txBody>
          <a:bodyPr wrap="square">
            <a:spAutoFit/>
          </a:bodyPr>
          <a:lstStyle/>
          <a:p>
            <a:pPr algn="l"/>
            <a:r>
              <a:rPr sz="950" b="0">
                <a:solidFill>
                  <a:srgbClr val="EF4444"/>
                </a:solidFill>
              </a:rPr>
              <a:t>  + Resource sharing</a:t>
            </a:r>
          </a:p>
        </p:txBody>
      </p:sp>
      <p:sp>
        <p:nvSpPr>
          <p:cNvPr id="56" name="TextBox 55"/>
          <p:cNvSpPr txBox="1"/>
          <p:nvPr/>
        </p:nvSpPr>
        <p:spPr>
          <a:xfrm>
            <a:off x="8385047" y="6254496"/>
            <a:ext cx="3566160" cy="201168"/>
          </a:xfrm>
          <a:prstGeom prst="rect">
            <a:avLst/>
          </a:prstGeom>
          <a:noFill/>
        </p:spPr>
        <p:txBody>
          <a:bodyPr wrap="square">
            <a:spAutoFit/>
          </a:bodyPr>
          <a:lstStyle/>
          <a:p>
            <a:pPr algn="l"/>
            <a:r>
              <a:rPr sz="950" b="0">
                <a:solidFill>
                  <a:srgbClr val="EF4444"/>
                </a:solidFill>
              </a:rPr>
              <a:t>  + Faculty moderation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98448"/>
          </a:xfrm>
          <a:prstGeom prst="rect">
            <a:avLst/>
          </a:prstGeom>
          <a:solidFill>
            <a:srgbClr val="0D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094476" cy="64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4476" y="0"/>
            <a:ext cx="6094476"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09728"/>
            <a:ext cx="11430000" cy="685800"/>
          </a:xfrm>
          <a:prstGeom prst="rect">
            <a:avLst/>
          </a:prstGeom>
          <a:noFill/>
        </p:spPr>
        <p:txBody>
          <a:bodyPr wrap="square">
            <a:spAutoFit/>
          </a:bodyPr>
          <a:lstStyle/>
          <a:p>
            <a:pPr algn="l"/>
            <a:r>
              <a:rPr sz="2900" b="1">
                <a:solidFill>
                  <a:srgbClr val="FFFFFF"/>
                </a:solidFill>
              </a:rPr>
              <a:t>Proposed Technology Stack</a:t>
            </a:r>
          </a:p>
        </p:txBody>
      </p:sp>
      <p:sp>
        <p:nvSpPr>
          <p:cNvPr id="6" name="TextBox 5"/>
          <p:cNvSpPr txBox="1"/>
          <p:nvPr/>
        </p:nvSpPr>
        <p:spPr>
          <a:xfrm>
            <a:off x="365760" y="768096"/>
            <a:ext cx="11430000" cy="420624"/>
          </a:xfrm>
          <a:prstGeom prst="rect">
            <a:avLst/>
          </a:prstGeom>
          <a:noFill/>
        </p:spPr>
        <p:txBody>
          <a:bodyPr wrap="square">
            <a:spAutoFit/>
          </a:bodyPr>
          <a:lstStyle/>
          <a:p>
            <a:pPr algn="l"/>
            <a:r>
              <a:rPr sz="1250" b="0">
                <a:solidFill>
                  <a:srgbClr val="B0BAD4"/>
                </a:solidFill>
              </a:rPr>
              <a:t>Modern, production-grade technologies chosen for performance, security, and scalability</a:t>
            </a:r>
          </a:p>
        </p:txBody>
      </p:sp>
      <p:sp>
        <p:nvSpPr>
          <p:cNvPr id="7" name="Rectangle 6"/>
          <p:cNvSpPr/>
          <p:nvPr/>
        </p:nvSpPr>
        <p:spPr>
          <a:xfrm>
            <a:off x="365760" y="1225296"/>
            <a:ext cx="2514600" cy="457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880360" y="1225296"/>
            <a:ext cx="2514600"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371600"/>
            <a:ext cx="11430000" cy="402336"/>
          </a:xfrm>
          <a:prstGeom prst="rect">
            <a:avLst/>
          </a:prstGeom>
          <a:solidFill>
            <a:srgbClr val="081022"/>
          </a:solidFill>
          <a:ln w="1016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444752"/>
            <a:ext cx="11064240" cy="292608"/>
          </a:xfrm>
          <a:prstGeom prst="rect">
            <a:avLst/>
          </a:prstGeom>
          <a:noFill/>
        </p:spPr>
        <p:txBody>
          <a:bodyPr wrap="square">
            <a:spAutoFit/>
          </a:bodyPr>
          <a:lstStyle/>
          <a:p>
            <a:pPr algn="l"/>
            <a:r>
              <a:rPr sz="1100" b="1">
                <a:solidFill>
                  <a:srgbClr val="6366F1"/>
                </a:solidFill>
              </a:rPr>
              <a:t>   FULL-STACK ARCHITECTURE — Layer by Layer</a:t>
            </a:r>
          </a:p>
        </p:txBody>
      </p:sp>
      <p:sp>
        <p:nvSpPr>
          <p:cNvPr id="11" name="Rectangle 10"/>
          <p:cNvSpPr/>
          <p:nvPr/>
        </p:nvSpPr>
        <p:spPr>
          <a:xfrm>
            <a:off x="365760" y="1874519"/>
            <a:ext cx="11430000" cy="694944"/>
          </a:xfrm>
          <a:prstGeom prst="rect">
            <a:avLst/>
          </a:prstGeom>
          <a:solidFill>
            <a:srgbClr val="042034"/>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65760" y="1938527"/>
            <a:ext cx="64008" cy="56692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1965960"/>
            <a:ext cx="2286000" cy="274320"/>
          </a:xfrm>
          <a:prstGeom prst="rect">
            <a:avLst/>
          </a:prstGeom>
          <a:noFill/>
        </p:spPr>
        <p:txBody>
          <a:bodyPr wrap="square">
            <a:spAutoFit/>
          </a:bodyPr>
          <a:lstStyle/>
          <a:p>
            <a:pPr algn="l"/>
            <a:r>
              <a:rPr sz="1000" b="1">
                <a:solidFill>
                  <a:srgbClr val="06B6D4"/>
                </a:solidFill>
              </a:rPr>
              <a:t>FRONTEND LAYER</a:t>
            </a:r>
          </a:p>
        </p:txBody>
      </p:sp>
      <p:sp>
        <p:nvSpPr>
          <p:cNvPr id="14" name="TextBox 13"/>
          <p:cNvSpPr txBox="1"/>
          <p:nvPr/>
        </p:nvSpPr>
        <p:spPr>
          <a:xfrm>
            <a:off x="2907792" y="1965960"/>
            <a:ext cx="8759952" cy="530352"/>
          </a:xfrm>
          <a:prstGeom prst="rect">
            <a:avLst/>
          </a:prstGeom>
          <a:noFill/>
        </p:spPr>
        <p:txBody>
          <a:bodyPr wrap="square">
            <a:spAutoFit/>
          </a:bodyPr>
          <a:lstStyle/>
          <a:p>
            <a:pPr algn="l"/>
            <a:r>
              <a:rPr sz="1050" b="0">
                <a:solidFill>
                  <a:srgbClr val="B0BAD4"/>
                </a:solidFill>
              </a:rPr>
              <a:t>Next.js 14 App Router  |  React 18  |  TypeScript (Strict Mode)  |  Vanilla CSS Glassmorphism  |  Lucide Icons  |  Responsive Grid Layouts</a:t>
            </a:r>
          </a:p>
        </p:txBody>
      </p:sp>
      <p:sp>
        <p:nvSpPr>
          <p:cNvPr id="15" name="Rectangle 14"/>
          <p:cNvSpPr/>
          <p:nvPr/>
        </p:nvSpPr>
        <p:spPr>
          <a:xfrm>
            <a:off x="365760" y="2651760"/>
            <a:ext cx="11430000" cy="694944"/>
          </a:xfrm>
          <a:prstGeom prst="rect">
            <a:avLst/>
          </a:prstGeom>
          <a:solidFill>
            <a:srgbClr val="080E34"/>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65760" y="2715768"/>
            <a:ext cx="64008" cy="56692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2743200"/>
            <a:ext cx="2286000" cy="274320"/>
          </a:xfrm>
          <a:prstGeom prst="rect">
            <a:avLst/>
          </a:prstGeom>
          <a:noFill/>
        </p:spPr>
        <p:txBody>
          <a:bodyPr wrap="square">
            <a:spAutoFit/>
          </a:bodyPr>
          <a:lstStyle/>
          <a:p>
            <a:pPr algn="l"/>
            <a:r>
              <a:rPr sz="1000" b="1">
                <a:solidFill>
                  <a:srgbClr val="6366F1"/>
                </a:solidFill>
              </a:rPr>
              <a:t>ROUTING &amp; AUTH</a:t>
            </a:r>
          </a:p>
        </p:txBody>
      </p:sp>
      <p:sp>
        <p:nvSpPr>
          <p:cNvPr id="18" name="TextBox 17"/>
          <p:cNvSpPr txBox="1"/>
          <p:nvPr/>
        </p:nvSpPr>
        <p:spPr>
          <a:xfrm>
            <a:off x="2907792" y="2743200"/>
            <a:ext cx="8759952" cy="530352"/>
          </a:xfrm>
          <a:prstGeom prst="rect">
            <a:avLst/>
          </a:prstGeom>
          <a:noFill/>
        </p:spPr>
        <p:txBody>
          <a:bodyPr wrap="square">
            <a:spAutoFit/>
          </a:bodyPr>
          <a:lstStyle/>
          <a:p>
            <a:pPr algn="l"/>
            <a:r>
              <a:rPr sz="1050" b="0">
                <a:solidFill>
                  <a:srgbClr val="B0BAD4"/>
                </a:solidFill>
              </a:rPr>
              <a:t>Next.js File-Based Routing  |  Middleware Route Guards  |  Role-Based Protected Pages (Student / Faculty / Admin / Parent)  |  JWT Session Management</a:t>
            </a:r>
          </a:p>
        </p:txBody>
      </p:sp>
      <p:sp>
        <p:nvSpPr>
          <p:cNvPr id="19" name="Rectangle 18"/>
          <p:cNvSpPr/>
          <p:nvPr/>
        </p:nvSpPr>
        <p:spPr>
          <a:xfrm>
            <a:off x="365760" y="3429000"/>
            <a:ext cx="11430000" cy="694944"/>
          </a:xfrm>
          <a:prstGeom prst="rect">
            <a:avLst/>
          </a:prstGeom>
          <a:solidFill>
            <a:srgbClr val="160634"/>
          </a:solidFill>
          <a:ln w="1524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65760" y="3493008"/>
            <a:ext cx="64008" cy="566928"/>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3520440"/>
            <a:ext cx="2286000" cy="274320"/>
          </a:xfrm>
          <a:prstGeom prst="rect">
            <a:avLst/>
          </a:prstGeom>
          <a:noFill/>
        </p:spPr>
        <p:txBody>
          <a:bodyPr wrap="square">
            <a:spAutoFit/>
          </a:bodyPr>
          <a:lstStyle/>
          <a:p>
            <a:pPr algn="l"/>
            <a:r>
              <a:rPr sz="1000" b="1">
                <a:solidFill>
                  <a:srgbClr val="A855F7"/>
                </a:solidFill>
              </a:rPr>
              <a:t>AI ENGINE</a:t>
            </a:r>
          </a:p>
        </p:txBody>
      </p:sp>
      <p:sp>
        <p:nvSpPr>
          <p:cNvPr id="22" name="TextBox 21"/>
          <p:cNvSpPr txBox="1"/>
          <p:nvPr/>
        </p:nvSpPr>
        <p:spPr>
          <a:xfrm>
            <a:off x="2907792" y="3520440"/>
            <a:ext cx="8759952" cy="530352"/>
          </a:xfrm>
          <a:prstGeom prst="rect">
            <a:avLst/>
          </a:prstGeom>
          <a:noFill/>
        </p:spPr>
        <p:txBody>
          <a:bodyPr wrap="square">
            <a:spAutoFit/>
          </a:bodyPr>
          <a:lstStyle/>
          <a:p>
            <a:pPr algn="l"/>
            <a:r>
              <a:rPr sz="1050" b="0">
                <a:solidFill>
                  <a:srgbClr val="B0BAD4"/>
                </a:solidFill>
              </a:rPr>
              <a:t>Google Gemini 1.5 Flash  |  @google/generative-ai SDK  |  Dynamic Student Profile Injection  |  Persona Engineering via System Prompts  |  Streaming API Responses</a:t>
            </a:r>
          </a:p>
        </p:txBody>
      </p:sp>
      <p:sp>
        <p:nvSpPr>
          <p:cNvPr id="23" name="Rectangle 22"/>
          <p:cNvSpPr/>
          <p:nvPr/>
        </p:nvSpPr>
        <p:spPr>
          <a:xfrm>
            <a:off x="365760" y="4206240"/>
            <a:ext cx="11430000" cy="694944"/>
          </a:xfrm>
          <a:prstGeom prst="rect">
            <a:avLst/>
          </a:prstGeom>
          <a:solidFill>
            <a:srgbClr val="261604"/>
          </a:solidFill>
          <a:ln w="1524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65760" y="4270248"/>
            <a:ext cx="64008" cy="56692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4297679"/>
            <a:ext cx="2286000" cy="274320"/>
          </a:xfrm>
          <a:prstGeom prst="rect">
            <a:avLst/>
          </a:prstGeom>
          <a:noFill/>
        </p:spPr>
        <p:txBody>
          <a:bodyPr wrap="square">
            <a:spAutoFit/>
          </a:bodyPr>
          <a:lstStyle/>
          <a:p>
            <a:pPr algn="l"/>
            <a:r>
              <a:rPr sz="1000" b="1">
                <a:solidFill>
                  <a:srgbClr val="F5A623"/>
                </a:solidFill>
              </a:rPr>
              <a:t>PAYMENT GATEWAY</a:t>
            </a:r>
          </a:p>
        </p:txBody>
      </p:sp>
      <p:sp>
        <p:nvSpPr>
          <p:cNvPr id="26" name="TextBox 25"/>
          <p:cNvSpPr txBox="1"/>
          <p:nvPr/>
        </p:nvSpPr>
        <p:spPr>
          <a:xfrm>
            <a:off x="2907792" y="4297679"/>
            <a:ext cx="8759952" cy="530352"/>
          </a:xfrm>
          <a:prstGeom prst="rect">
            <a:avLst/>
          </a:prstGeom>
          <a:noFill/>
        </p:spPr>
        <p:txBody>
          <a:bodyPr wrap="square">
            <a:spAutoFit/>
          </a:bodyPr>
          <a:lstStyle/>
          <a:p>
            <a:pPr algn="l"/>
            <a:r>
              <a:rPr sz="1050" b="0">
                <a:solidFill>
                  <a:srgbClr val="B0BAD4"/>
                </a:solidFill>
              </a:rPr>
              <a:t>Razorpay Node.js SDK  |  Server-Side Order Creation  |  HMAC-SHA256 Signature Verification  |  Webhook Handlers  |  Sandbox Mode for Testing</a:t>
            </a:r>
          </a:p>
        </p:txBody>
      </p:sp>
      <p:sp>
        <p:nvSpPr>
          <p:cNvPr id="27" name="Rectangle 26"/>
          <p:cNvSpPr/>
          <p:nvPr/>
        </p:nvSpPr>
        <p:spPr>
          <a:xfrm>
            <a:off x="365760" y="4983479"/>
            <a:ext cx="11430000" cy="694944"/>
          </a:xfrm>
          <a:prstGeom prst="rect">
            <a:avLst/>
          </a:prstGeom>
          <a:solidFill>
            <a:srgbClr val="042012"/>
          </a:solidFill>
          <a:ln w="1524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365760" y="5047488"/>
            <a:ext cx="64008" cy="566928"/>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48640" y="5074919"/>
            <a:ext cx="2286000" cy="274320"/>
          </a:xfrm>
          <a:prstGeom prst="rect">
            <a:avLst/>
          </a:prstGeom>
          <a:noFill/>
        </p:spPr>
        <p:txBody>
          <a:bodyPr wrap="square">
            <a:spAutoFit/>
          </a:bodyPr>
          <a:lstStyle/>
          <a:p>
            <a:pPr algn="l"/>
            <a:r>
              <a:rPr sz="1000" b="1">
                <a:solidFill>
                  <a:srgbClr val="22C55E"/>
                </a:solidFill>
              </a:rPr>
              <a:t>DATABASE LAYER</a:t>
            </a:r>
          </a:p>
        </p:txBody>
      </p:sp>
      <p:sp>
        <p:nvSpPr>
          <p:cNvPr id="30" name="TextBox 29"/>
          <p:cNvSpPr txBox="1"/>
          <p:nvPr/>
        </p:nvSpPr>
        <p:spPr>
          <a:xfrm>
            <a:off x="2907792" y="5074919"/>
            <a:ext cx="8759952" cy="530352"/>
          </a:xfrm>
          <a:prstGeom prst="rect">
            <a:avLst/>
          </a:prstGeom>
          <a:noFill/>
        </p:spPr>
        <p:txBody>
          <a:bodyPr wrap="square">
            <a:spAutoFit/>
          </a:bodyPr>
          <a:lstStyle/>
          <a:p>
            <a:pPr algn="l"/>
            <a:r>
              <a:rPr sz="1050" b="0">
                <a:solidFill>
                  <a:srgbClr val="B0BAD4"/>
                </a:solidFill>
              </a:rPr>
              <a:t>JSON-based Mock DB (development)  |  Strict TypeScript Schemas  |  Plug-in Ready for PostgreSQL + Prisma ORM  |  Supabase / MongoDB Atlas for production</a:t>
            </a:r>
          </a:p>
        </p:txBody>
      </p:sp>
      <p:sp>
        <p:nvSpPr>
          <p:cNvPr id="31" name="Rectangle 30"/>
          <p:cNvSpPr/>
          <p:nvPr/>
        </p:nvSpPr>
        <p:spPr>
          <a:xfrm>
            <a:off x="365760" y="5760720"/>
            <a:ext cx="11430000" cy="694944"/>
          </a:xfrm>
          <a:prstGeom prst="rect">
            <a:avLst/>
          </a:prstGeom>
          <a:solidFill>
            <a:srgbClr val="260606"/>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65760" y="5824728"/>
            <a:ext cx="64008" cy="56692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48640" y="5852159"/>
            <a:ext cx="2286000" cy="274320"/>
          </a:xfrm>
          <a:prstGeom prst="rect">
            <a:avLst/>
          </a:prstGeom>
          <a:noFill/>
        </p:spPr>
        <p:txBody>
          <a:bodyPr wrap="square">
            <a:spAutoFit/>
          </a:bodyPr>
          <a:lstStyle/>
          <a:p>
            <a:pPr algn="l"/>
            <a:r>
              <a:rPr sz="1000" b="1">
                <a:solidFill>
                  <a:srgbClr val="EF4444"/>
                </a:solidFill>
              </a:rPr>
              <a:t>DEVOPS &amp; SECURITY</a:t>
            </a:r>
          </a:p>
        </p:txBody>
      </p:sp>
      <p:sp>
        <p:nvSpPr>
          <p:cNvPr id="34" name="TextBox 33"/>
          <p:cNvSpPr txBox="1"/>
          <p:nvPr/>
        </p:nvSpPr>
        <p:spPr>
          <a:xfrm>
            <a:off x="2907792" y="5852159"/>
            <a:ext cx="8759952" cy="530352"/>
          </a:xfrm>
          <a:prstGeom prst="rect">
            <a:avLst/>
          </a:prstGeom>
          <a:noFill/>
        </p:spPr>
        <p:txBody>
          <a:bodyPr wrap="square">
            <a:spAutoFit/>
          </a:bodyPr>
          <a:lstStyle/>
          <a:p>
            <a:pPr algn="l"/>
            <a:r>
              <a:rPr sz="1050" b="0">
                <a:solidFill>
                  <a:srgbClr val="B0BAD4"/>
                </a:solidFill>
              </a:rPr>
              <a:t>Server-Side Environment Variables  |  CORS Policies  |  Vercel Edge Deployment  |  ESLint + Prettier  |  TypeScript Compiler Strict Checks  |  API Rate Limiting</a:t>
            </a:r>
          </a:p>
        </p:txBody>
      </p:sp>
      <p:sp>
        <p:nvSpPr>
          <p:cNvPr id="35" name="Rectangle 34"/>
          <p:cNvSpPr/>
          <p:nvPr/>
        </p:nvSpPr>
        <p:spPr>
          <a:xfrm>
            <a:off x="365760" y="6537960"/>
            <a:ext cx="11430000" cy="182880"/>
          </a:xfrm>
          <a:prstGeom prst="rect">
            <a:avLst/>
          </a:prstGeom>
          <a:solidFill>
            <a:srgbClr val="081022"/>
          </a:solidFill>
          <a:ln w="1016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02920" y="6510394"/>
            <a:ext cx="11155680" cy="164592"/>
          </a:xfrm>
          <a:prstGeom prst="rect">
            <a:avLst/>
          </a:prstGeom>
          <a:noFill/>
        </p:spPr>
        <p:txBody>
          <a:bodyPr wrap="square">
            <a:spAutoFit/>
          </a:bodyPr>
          <a:lstStyle/>
          <a:p>
            <a:pPr algn="l"/>
            <a:r>
              <a:rPr sz="1000" b="0" dirty="0">
                <a:solidFill>
                  <a:srgbClr val="6366F1"/>
                </a:solidFill>
              </a:rPr>
              <a:t>  Why this stack? Open-source, free-tier friendly, production-proven, AI-ready — ideal for both hackathon and enterprise deployment.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98448"/>
          </a:xfrm>
          <a:prstGeom prst="rect">
            <a:avLst/>
          </a:prstGeom>
          <a:solidFill>
            <a:srgbClr val="0D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094476" cy="64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4476" y="0"/>
            <a:ext cx="6094476"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09728"/>
            <a:ext cx="11430000" cy="685800"/>
          </a:xfrm>
          <a:prstGeom prst="rect">
            <a:avLst/>
          </a:prstGeom>
          <a:noFill/>
        </p:spPr>
        <p:txBody>
          <a:bodyPr wrap="square">
            <a:spAutoFit/>
          </a:bodyPr>
          <a:lstStyle/>
          <a:p>
            <a:pPr algn="l"/>
            <a:r>
              <a:rPr sz="2900" b="1">
                <a:solidFill>
                  <a:srgbClr val="FFFFFF"/>
                </a:solidFill>
              </a:rPr>
              <a:t>AI Architecture: How the Intelligence Works</a:t>
            </a:r>
          </a:p>
        </p:txBody>
      </p:sp>
      <p:sp>
        <p:nvSpPr>
          <p:cNvPr id="6" name="TextBox 5"/>
          <p:cNvSpPr txBox="1"/>
          <p:nvPr/>
        </p:nvSpPr>
        <p:spPr>
          <a:xfrm>
            <a:off x="365760" y="768096"/>
            <a:ext cx="11430000" cy="420624"/>
          </a:xfrm>
          <a:prstGeom prst="rect">
            <a:avLst/>
          </a:prstGeom>
          <a:noFill/>
        </p:spPr>
        <p:txBody>
          <a:bodyPr wrap="square">
            <a:spAutoFit/>
          </a:bodyPr>
          <a:lstStyle/>
          <a:p>
            <a:pPr algn="l"/>
            <a:r>
              <a:rPr sz="1250" b="0">
                <a:solidFill>
                  <a:srgbClr val="B0BAD4"/>
                </a:solidFill>
              </a:rPr>
              <a:t>A novel approach to context-aware AI in education — beyond simple chatbots</a:t>
            </a:r>
          </a:p>
        </p:txBody>
      </p:sp>
      <p:sp>
        <p:nvSpPr>
          <p:cNvPr id="7" name="Rectangle 6"/>
          <p:cNvSpPr/>
          <p:nvPr/>
        </p:nvSpPr>
        <p:spPr>
          <a:xfrm>
            <a:off x="365760" y="1225296"/>
            <a:ext cx="2514600" cy="457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880360" y="1225296"/>
            <a:ext cx="2514600"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371600"/>
            <a:ext cx="5394960" cy="5230368"/>
          </a:xfrm>
          <a:prstGeom prst="rect">
            <a:avLst/>
          </a:prstGeom>
          <a:solidFill>
            <a:srgbClr val="0C1426"/>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5760" y="1371600"/>
            <a:ext cx="5394960" cy="43891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5488" y="1426464"/>
            <a:ext cx="5212080" cy="347472"/>
          </a:xfrm>
          <a:prstGeom prst="rect">
            <a:avLst/>
          </a:prstGeom>
          <a:noFill/>
        </p:spPr>
        <p:txBody>
          <a:bodyPr wrap="square">
            <a:spAutoFit/>
          </a:bodyPr>
          <a:lstStyle/>
          <a:p>
            <a:pPr algn="l"/>
            <a:r>
              <a:rPr sz="1300" b="1">
                <a:solidFill>
                  <a:srgbClr val="FFFFFF"/>
                </a:solidFill>
              </a:rPr>
              <a:t>  The AI Response Pipeline</a:t>
            </a:r>
          </a:p>
        </p:txBody>
      </p:sp>
      <p:sp>
        <p:nvSpPr>
          <p:cNvPr id="12" name="Rectangle 11"/>
          <p:cNvSpPr/>
          <p:nvPr/>
        </p:nvSpPr>
        <p:spPr>
          <a:xfrm>
            <a:off x="475488" y="1901952"/>
            <a:ext cx="5166360" cy="676656"/>
          </a:xfrm>
          <a:prstGeom prst="rect">
            <a:avLst/>
          </a:prstGeom>
          <a:solidFill>
            <a:srgbClr val="081022"/>
          </a:solidFill>
          <a:ln w="1016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1792" y="1956816"/>
            <a:ext cx="4892040" cy="237744"/>
          </a:xfrm>
          <a:prstGeom prst="rect">
            <a:avLst/>
          </a:prstGeom>
          <a:noFill/>
        </p:spPr>
        <p:txBody>
          <a:bodyPr wrap="square">
            <a:spAutoFit/>
          </a:bodyPr>
          <a:lstStyle/>
          <a:p>
            <a:pPr algn="l"/>
            <a:r>
              <a:rPr sz="1100" b="1">
                <a:solidFill>
                  <a:srgbClr val="06B6D4"/>
                </a:solidFill>
              </a:rPr>
              <a:t>1. Student Sends Query</a:t>
            </a:r>
          </a:p>
        </p:txBody>
      </p:sp>
      <p:sp>
        <p:nvSpPr>
          <p:cNvPr id="14" name="TextBox 13"/>
          <p:cNvSpPr txBox="1"/>
          <p:nvPr/>
        </p:nvSpPr>
        <p:spPr>
          <a:xfrm>
            <a:off x="621792" y="2194560"/>
            <a:ext cx="4892040" cy="347472"/>
          </a:xfrm>
          <a:prstGeom prst="rect">
            <a:avLst/>
          </a:prstGeom>
          <a:noFill/>
        </p:spPr>
        <p:txBody>
          <a:bodyPr wrap="square">
            <a:spAutoFit/>
          </a:bodyPr>
          <a:lstStyle/>
          <a:p>
            <a:pPr algn="l"/>
            <a:r>
              <a:rPr sz="950" b="0">
                <a:solidFill>
                  <a:srgbClr val="B0BAD4"/>
                </a:solidFill>
              </a:rPr>
              <a:t>User types a question in the AI chat interface on their personal dashboard.</a:t>
            </a:r>
          </a:p>
        </p:txBody>
      </p:sp>
      <p:sp>
        <p:nvSpPr>
          <p:cNvPr id="15" name="Rectangle 14"/>
          <p:cNvSpPr/>
          <p:nvPr/>
        </p:nvSpPr>
        <p:spPr>
          <a:xfrm>
            <a:off x="475488" y="2670048"/>
            <a:ext cx="5166360" cy="676656"/>
          </a:xfrm>
          <a:prstGeom prst="rect">
            <a:avLst/>
          </a:prstGeom>
          <a:solidFill>
            <a:srgbClr val="081022"/>
          </a:solidFill>
          <a:ln w="1016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1792" y="2724912"/>
            <a:ext cx="4892040" cy="237744"/>
          </a:xfrm>
          <a:prstGeom prst="rect">
            <a:avLst/>
          </a:prstGeom>
          <a:noFill/>
        </p:spPr>
        <p:txBody>
          <a:bodyPr wrap="square">
            <a:spAutoFit/>
          </a:bodyPr>
          <a:lstStyle/>
          <a:p>
            <a:pPr algn="l"/>
            <a:r>
              <a:rPr sz="1100" b="1">
                <a:solidFill>
                  <a:srgbClr val="F5A623"/>
                </a:solidFill>
              </a:rPr>
              <a:t>2. Profile Injection</a:t>
            </a:r>
          </a:p>
        </p:txBody>
      </p:sp>
      <p:sp>
        <p:nvSpPr>
          <p:cNvPr id="17" name="TextBox 16"/>
          <p:cNvSpPr txBox="1"/>
          <p:nvPr/>
        </p:nvSpPr>
        <p:spPr>
          <a:xfrm>
            <a:off x="621792" y="2962656"/>
            <a:ext cx="4892040" cy="347472"/>
          </a:xfrm>
          <a:prstGeom prst="rect">
            <a:avLst/>
          </a:prstGeom>
          <a:noFill/>
        </p:spPr>
        <p:txBody>
          <a:bodyPr wrap="square">
            <a:spAutoFit/>
          </a:bodyPr>
          <a:lstStyle/>
          <a:p>
            <a:pPr algn="l"/>
            <a:r>
              <a:rPr sz="950" b="0">
                <a:solidFill>
                  <a:srgbClr val="B0BAD4"/>
                </a:solidFill>
              </a:rPr>
              <a:t>Server fetches the student's academic profile: semester, branch, subjects, timetable, fees, grades.</a:t>
            </a:r>
          </a:p>
        </p:txBody>
      </p:sp>
      <p:sp>
        <p:nvSpPr>
          <p:cNvPr id="18" name="Rectangle 17"/>
          <p:cNvSpPr/>
          <p:nvPr/>
        </p:nvSpPr>
        <p:spPr>
          <a:xfrm>
            <a:off x="475488" y="3438144"/>
            <a:ext cx="5166360" cy="676656"/>
          </a:xfrm>
          <a:prstGeom prst="rect">
            <a:avLst/>
          </a:prstGeom>
          <a:solidFill>
            <a:srgbClr val="081022"/>
          </a:solidFill>
          <a:ln w="1016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1792" y="3493008"/>
            <a:ext cx="4892040" cy="237744"/>
          </a:xfrm>
          <a:prstGeom prst="rect">
            <a:avLst/>
          </a:prstGeom>
          <a:noFill/>
        </p:spPr>
        <p:txBody>
          <a:bodyPr wrap="square">
            <a:spAutoFit/>
          </a:bodyPr>
          <a:lstStyle/>
          <a:p>
            <a:pPr algn="l"/>
            <a:r>
              <a:rPr sz="1100" b="1">
                <a:solidFill>
                  <a:srgbClr val="A855F7"/>
                </a:solidFill>
              </a:rPr>
              <a:t>3. Prompt Construction</a:t>
            </a:r>
          </a:p>
        </p:txBody>
      </p:sp>
      <p:sp>
        <p:nvSpPr>
          <p:cNvPr id="20" name="TextBox 19"/>
          <p:cNvSpPr txBox="1"/>
          <p:nvPr/>
        </p:nvSpPr>
        <p:spPr>
          <a:xfrm>
            <a:off x="621792" y="3730752"/>
            <a:ext cx="4892040" cy="347472"/>
          </a:xfrm>
          <a:prstGeom prst="rect">
            <a:avLst/>
          </a:prstGeom>
          <a:noFill/>
        </p:spPr>
        <p:txBody>
          <a:bodyPr wrap="square">
            <a:spAutoFit/>
          </a:bodyPr>
          <a:lstStyle/>
          <a:p>
            <a:pPr algn="l"/>
            <a:r>
              <a:rPr sz="950" b="0">
                <a:solidFill>
                  <a:srgbClr val="B0BAD4"/>
                </a:solidFill>
              </a:rPr>
              <a:t>System prompt combines: Persona rules + Student profile data + Actual user question into one structured prompt.</a:t>
            </a:r>
          </a:p>
        </p:txBody>
      </p:sp>
      <p:sp>
        <p:nvSpPr>
          <p:cNvPr id="21" name="Rectangle 20"/>
          <p:cNvSpPr/>
          <p:nvPr/>
        </p:nvSpPr>
        <p:spPr>
          <a:xfrm>
            <a:off x="475488" y="4206240"/>
            <a:ext cx="5166360" cy="676656"/>
          </a:xfrm>
          <a:prstGeom prst="rect">
            <a:avLst/>
          </a:prstGeom>
          <a:solidFill>
            <a:srgbClr val="081022"/>
          </a:solidFill>
          <a:ln w="1016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1792" y="4261103"/>
            <a:ext cx="4892040" cy="237744"/>
          </a:xfrm>
          <a:prstGeom prst="rect">
            <a:avLst/>
          </a:prstGeom>
          <a:noFill/>
        </p:spPr>
        <p:txBody>
          <a:bodyPr wrap="square">
            <a:spAutoFit/>
          </a:bodyPr>
          <a:lstStyle/>
          <a:p>
            <a:pPr algn="l"/>
            <a:r>
              <a:rPr sz="1100" b="1">
                <a:solidFill>
                  <a:srgbClr val="22C55E"/>
                </a:solidFill>
              </a:rPr>
              <a:t>4. Gemini API Call</a:t>
            </a:r>
          </a:p>
        </p:txBody>
      </p:sp>
      <p:sp>
        <p:nvSpPr>
          <p:cNvPr id="23" name="TextBox 22"/>
          <p:cNvSpPr txBox="1"/>
          <p:nvPr/>
        </p:nvSpPr>
        <p:spPr>
          <a:xfrm>
            <a:off x="621792" y="4498848"/>
            <a:ext cx="4892040" cy="347472"/>
          </a:xfrm>
          <a:prstGeom prst="rect">
            <a:avLst/>
          </a:prstGeom>
          <a:noFill/>
        </p:spPr>
        <p:txBody>
          <a:bodyPr wrap="square">
            <a:spAutoFit/>
          </a:bodyPr>
          <a:lstStyle/>
          <a:p>
            <a:pPr algn="l"/>
            <a:r>
              <a:rPr sz="950" b="0">
                <a:solidFill>
                  <a:srgbClr val="B0BAD4"/>
                </a:solidFill>
              </a:rPr>
              <a:t>The constructed prompt is sent to Gemini 1.5 Flash, which returns a context-aware, personalized response.</a:t>
            </a:r>
          </a:p>
        </p:txBody>
      </p:sp>
      <p:sp>
        <p:nvSpPr>
          <p:cNvPr id="24" name="Rectangle 23"/>
          <p:cNvSpPr/>
          <p:nvPr/>
        </p:nvSpPr>
        <p:spPr>
          <a:xfrm>
            <a:off x="475488" y="4974336"/>
            <a:ext cx="5166360" cy="676656"/>
          </a:xfrm>
          <a:prstGeom prst="rect">
            <a:avLst/>
          </a:prstGeom>
          <a:solidFill>
            <a:srgbClr val="081022"/>
          </a:solidFill>
          <a:ln w="1016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21792" y="5029199"/>
            <a:ext cx="4892040" cy="237744"/>
          </a:xfrm>
          <a:prstGeom prst="rect">
            <a:avLst/>
          </a:prstGeom>
          <a:noFill/>
        </p:spPr>
        <p:txBody>
          <a:bodyPr wrap="square">
            <a:spAutoFit/>
          </a:bodyPr>
          <a:lstStyle/>
          <a:p>
            <a:pPr algn="l"/>
            <a:r>
              <a:rPr sz="1100" b="1">
                <a:solidFill>
                  <a:srgbClr val="EF4444"/>
                </a:solidFill>
              </a:rPr>
              <a:t>5. Fallback Mode</a:t>
            </a:r>
          </a:p>
        </p:txBody>
      </p:sp>
      <p:sp>
        <p:nvSpPr>
          <p:cNvPr id="26" name="TextBox 25"/>
          <p:cNvSpPr txBox="1"/>
          <p:nvPr/>
        </p:nvSpPr>
        <p:spPr>
          <a:xfrm>
            <a:off x="621792" y="5266944"/>
            <a:ext cx="4892040" cy="347472"/>
          </a:xfrm>
          <a:prstGeom prst="rect">
            <a:avLst/>
          </a:prstGeom>
          <a:noFill/>
        </p:spPr>
        <p:txBody>
          <a:bodyPr wrap="square">
            <a:spAutoFit/>
          </a:bodyPr>
          <a:lstStyle/>
          <a:p>
            <a:pPr algn="l"/>
            <a:r>
              <a:rPr sz="950" b="0">
                <a:solidFill>
                  <a:srgbClr val="B0BAD4"/>
                </a:solidFill>
              </a:rPr>
              <a:t>If no API key or rate limit hit, our Demo Responder engine provides hardcoded accurate academic answers.</a:t>
            </a:r>
          </a:p>
        </p:txBody>
      </p:sp>
      <p:sp>
        <p:nvSpPr>
          <p:cNvPr id="27" name="Rectangle 26"/>
          <p:cNvSpPr/>
          <p:nvPr/>
        </p:nvSpPr>
        <p:spPr>
          <a:xfrm>
            <a:off x="475488" y="5742432"/>
            <a:ext cx="5166360" cy="676656"/>
          </a:xfrm>
          <a:prstGeom prst="rect">
            <a:avLst/>
          </a:prstGeom>
          <a:solidFill>
            <a:srgbClr val="081022"/>
          </a:solidFill>
          <a:ln w="1016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21792" y="5797296"/>
            <a:ext cx="4892040" cy="237744"/>
          </a:xfrm>
          <a:prstGeom prst="rect">
            <a:avLst/>
          </a:prstGeom>
          <a:noFill/>
        </p:spPr>
        <p:txBody>
          <a:bodyPr wrap="square">
            <a:spAutoFit/>
          </a:bodyPr>
          <a:lstStyle/>
          <a:p>
            <a:pPr algn="l"/>
            <a:r>
              <a:rPr sz="1100" b="1">
                <a:solidFill>
                  <a:srgbClr val="6366F1"/>
                </a:solidFill>
              </a:rPr>
              <a:t>6. Stream to Frontend</a:t>
            </a:r>
          </a:p>
        </p:txBody>
      </p:sp>
      <p:sp>
        <p:nvSpPr>
          <p:cNvPr id="29" name="TextBox 28"/>
          <p:cNvSpPr txBox="1"/>
          <p:nvPr/>
        </p:nvSpPr>
        <p:spPr>
          <a:xfrm>
            <a:off x="621792" y="6035040"/>
            <a:ext cx="4892040" cy="347472"/>
          </a:xfrm>
          <a:prstGeom prst="rect">
            <a:avLst/>
          </a:prstGeom>
          <a:noFill/>
        </p:spPr>
        <p:txBody>
          <a:bodyPr wrap="square">
            <a:spAutoFit/>
          </a:bodyPr>
          <a:lstStyle/>
          <a:p>
            <a:pPr algn="l"/>
            <a:r>
              <a:rPr sz="950" b="0">
                <a:solidFill>
                  <a:srgbClr val="B0BAD4"/>
                </a:solidFill>
              </a:rPr>
              <a:t>Response streams to the Next.js UI, rendering character-by-character for a premium chat experience.</a:t>
            </a:r>
          </a:p>
        </p:txBody>
      </p:sp>
      <p:sp>
        <p:nvSpPr>
          <p:cNvPr id="30" name="Rectangle 29"/>
          <p:cNvSpPr/>
          <p:nvPr/>
        </p:nvSpPr>
        <p:spPr>
          <a:xfrm>
            <a:off x="6108192" y="1371600"/>
            <a:ext cx="5687568" cy="2542032"/>
          </a:xfrm>
          <a:prstGeom prst="rect">
            <a:avLst/>
          </a:prstGeom>
          <a:solidFill>
            <a:srgbClr val="0C142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108192" y="1371600"/>
            <a:ext cx="5687568" cy="43891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17920" y="1426464"/>
            <a:ext cx="5486400" cy="347472"/>
          </a:xfrm>
          <a:prstGeom prst="rect">
            <a:avLst/>
          </a:prstGeom>
          <a:noFill/>
        </p:spPr>
        <p:txBody>
          <a:bodyPr wrap="square">
            <a:spAutoFit/>
          </a:bodyPr>
          <a:lstStyle/>
          <a:p>
            <a:pPr algn="l"/>
            <a:r>
              <a:rPr sz="1300" b="1">
                <a:solidFill>
                  <a:srgbClr val="FFFFFF"/>
                </a:solidFill>
              </a:rPr>
              <a:t>  What Makes This Innovative</a:t>
            </a:r>
          </a:p>
        </p:txBody>
      </p:sp>
      <p:sp>
        <p:nvSpPr>
          <p:cNvPr id="33" name="TextBox 32"/>
          <p:cNvSpPr txBox="1"/>
          <p:nvPr/>
        </p:nvSpPr>
        <p:spPr>
          <a:xfrm>
            <a:off x="6217920" y="1883664"/>
            <a:ext cx="5486400" cy="1938528"/>
          </a:xfrm>
          <a:prstGeom prst="rect">
            <a:avLst/>
          </a:prstGeom>
          <a:noFill/>
        </p:spPr>
        <p:txBody>
          <a:bodyPr wrap="square">
            <a:spAutoFit/>
          </a:bodyPr>
          <a:lstStyle/>
          <a:p>
            <a:pPr>
              <a:spcAft>
                <a:spcPts val="300"/>
              </a:spcAft>
            </a:pPr>
            <a:r>
              <a:rPr sz="1100" b="1">
                <a:solidFill>
                  <a:srgbClr val="06B6D4"/>
                </a:solidFill>
              </a:rPr>
              <a:t>  Dynamic Context Injection (Novel)</a:t>
            </a:r>
          </a:p>
          <a:p>
            <a:pPr>
              <a:spcAft>
                <a:spcPts val="300"/>
              </a:spcAft>
            </a:pPr>
            <a:r>
              <a:rPr sz="1000" b="0">
                <a:solidFill>
                  <a:srgbClr val="B0BAD4"/>
                </a:solidFill>
              </a:rPr>
              <a:t>  Unlike generic chatbots, our AI is given the student's FULL academic record at runtime. It knows exam dates, fee status, faculty names, and subject details — producing answers that feel personally tailored.</a:t>
            </a:r>
          </a:p>
          <a:p>
            <a:pPr>
              <a:spcAft>
                <a:spcPts val="300"/>
              </a:spcAft>
            </a:pPr>
            <a:endParaRPr sz="1000" b="0">
              <a:solidFill>
                <a:srgbClr val="B0BAD4"/>
              </a:solidFill>
            </a:endParaRPr>
          </a:p>
          <a:p>
            <a:pPr>
              <a:spcAft>
                <a:spcPts val="300"/>
              </a:spcAft>
            </a:pPr>
            <a:r>
              <a:rPr sz="1100" b="1">
                <a:solidFill>
                  <a:srgbClr val="06B6D4"/>
                </a:solidFill>
              </a:rPr>
              <a:t>  Tiered Reliability Design</a:t>
            </a:r>
          </a:p>
          <a:p>
            <a:pPr>
              <a:spcAft>
                <a:spcPts val="300"/>
              </a:spcAft>
            </a:pPr>
            <a:r>
              <a:rPr sz="1000" b="0">
                <a:solidFill>
                  <a:srgbClr val="B0BAD4"/>
                </a:solidFill>
              </a:rPr>
              <a:t>  Live Mode uses Gemini for intelligent reasoning. Demo Mode uses a hardcoded responder ensuring 100% uptime. No single point of failure.</a:t>
            </a:r>
          </a:p>
          <a:p>
            <a:pPr>
              <a:spcAft>
                <a:spcPts val="300"/>
              </a:spcAft>
            </a:pPr>
            <a:endParaRPr sz="1000" b="0">
              <a:solidFill>
                <a:srgbClr val="B0BAD4"/>
              </a:solidFill>
            </a:endParaRPr>
          </a:p>
          <a:p>
            <a:pPr>
              <a:spcAft>
                <a:spcPts val="300"/>
              </a:spcAft>
            </a:pPr>
            <a:r>
              <a:rPr sz="1100" b="1">
                <a:solidFill>
                  <a:srgbClr val="06B6D4"/>
                </a:solidFill>
              </a:rPr>
              <a:t>  Persona Engineering</a:t>
            </a:r>
          </a:p>
          <a:p>
            <a:pPr>
              <a:spcAft>
                <a:spcPts val="300"/>
              </a:spcAft>
            </a:pPr>
            <a:r>
              <a:rPr sz="1000" b="0">
                <a:solidFill>
                  <a:srgbClr val="B0BAD4"/>
                </a:solidFill>
              </a:rPr>
              <a:t>  System prompts constrain the AI to act ONLY as an academic advisor — preventing hallucinations, off-topic answers, or inappropriate content.</a:t>
            </a:r>
          </a:p>
        </p:txBody>
      </p:sp>
      <p:sp>
        <p:nvSpPr>
          <p:cNvPr id="34" name="Rectangle 33"/>
          <p:cNvSpPr/>
          <p:nvPr/>
        </p:nvSpPr>
        <p:spPr>
          <a:xfrm>
            <a:off x="6108192" y="4041648"/>
            <a:ext cx="5687568" cy="2560320"/>
          </a:xfrm>
          <a:prstGeom prst="rect">
            <a:avLst/>
          </a:prstGeom>
          <a:solidFill>
            <a:srgbClr val="0C1426"/>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108192" y="4041648"/>
            <a:ext cx="5687568" cy="43891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217920" y="4096512"/>
            <a:ext cx="5486400" cy="347472"/>
          </a:xfrm>
          <a:prstGeom prst="rect">
            <a:avLst/>
          </a:prstGeom>
          <a:noFill/>
        </p:spPr>
        <p:txBody>
          <a:bodyPr wrap="square">
            <a:spAutoFit/>
          </a:bodyPr>
          <a:lstStyle/>
          <a:p>
            <a:pPr algn="l"/>
            <a:r>
              <a:rPr sz="1300" b="1">
                <a:solidFill>
                  <a:srgbClr val="FFFFFF"/>
                </a:solidFill>
              </a:rPr>
              <a:t>  Example AI Interactions (Planned)</a:t>
            </a:r>
          </a:p>
        </p:txBody>
      </p:sp>
      <p:sp>
        <p:nvSpPr>
          <p:cNvPr id="37" name="TextBox 36"/>
          <p:cNvSpPr txBox="1"/>
          <p:nvPr/>
        </p:nvSpPr>
        <p:spPr>
          <a:xfrm>
            <a:off x="6217920" y="4553712"/>
            <a:ext cx="5486400" cy="1920240"/>
          </a:xfrm>
          <a:prstGeom prst="rect">
            <a:avLst/>
          </a:prstGeom>
          <a:noFill/>
        </p:spPr>
        <p:txBody>
          <a:bodyPr wrap="square">
            <a:spAutoFit/>
          </a:bodyPr>
          <a:lstStyle/>
          <a:p>
            <a:pPr>
              <a:spcAft>
                <a:spcPts val="300"/>
              </a:spcAft>
            </a:pPr>
            <a:r>
              <a:rPr sz="1100" b="1">
                <a:solidFill>
                  <a:srgbClr val="06B6D4"/>
                </a:solidFill>
              </a:rPr>
              <a:t>  Student: "When is my Networks exam?"</a:t>
            </a:r>
          </a:p>
          <a:p>
            <a:pPr>
              <a:spcAft>
                <a:spcPts val="300"/>
              </a:spcAft>
            </a:pPr>
            <a:r>
              <a:rPr sz="1000" b="0">
                <a:solidFill>
                  <a:srgbClr val="B0BAD4"/>
                </a:solidFill>
              </a:rPr>
              <a:t>  AI: "Your Computer Networks (CS604) exam is June 19, 2026 at 2:00 PM — Hall B, Room 12."</a:t>
            </a:r>
          </a:p>
          <a:p>
            <a:pPr>
              <a:spcAft>
                <a:spcPts val="300"/>
              </a:spcAft>
            </a:pPr>
            <a:endParaRPr sz="1000" b="0">
              <a:solidFill>
                <a:srgbClr val="B0BAD4"/>
              </a:solidFill>
            </a:endParaRPr>
          </a:p>
          <a:p>
            <a:pPr>
              <a:spcAft>
                <a:spcPts val="300"/>
              </a:spcAft>
            </a:pPr>
            <a:r>
              <a:rPr sz="1100" b="1">
                <a:solidFill>
                  <a:srgbClr val="06B6D4"/>
                </a:solidFill>
              </a:rPr>
              <a:t>  Student: "What is my outstanding fee?"</a:t>
            </a:r>
          </a:p>
          <a:p>
            <a:pPr>
              <a:spcAft>
                <a:spcPts val="300"/>
              </a:spcAft>
            </a:pPr>
            <a:r>
              <a:rPr sz="1000" b="0">
                <a:solidFill>
                  <a:srgbClr val="B0BAD4"/>
                </a:solidFill>
              </a:rPr>
              <a:t>  AI: "You have Rs.17,000 outstanding: Exam Fee Rs.5K (due Jun 15) + Development Fee Rs.12K (overdue). Pay now to avoid hall ticket block."</a:t>
            </a:r>
          </a:p>
          <a:p>
            <a:pPr>
              <a:spcAft>
                <a:spcPts val="300"/>
              </a:spcAft>
            </a:pPr>
            <a:endParaRPr sz="1000" b="0">
              <a:solidFill>
                <a:srgbClr val="B0BAD4"/>
              </a:solidFill>
            </a:endParaRPr>
          </a:p>
          <a:p>
            <a:pPr>
              <a:spcAft>
                <a:spcPts val="300"/>
              </a:spcAft>
            </a:pPr>
            <a:r>
              <a:rPr sz="1100" b="1">
                <a:solidFill>
                  <a:srgbClr val="06B6D4"/>
                </a:solidFill>
              </a:rPr>
              <a:t>  Student: "Who teaches DBMS?"</a:t>
            </a:r>
          </a:p>
          <a:p>
            <a:pPr>
              <a:spcAft>
                <a:spcPts val="300"/>
              </a:spcAft>
            </a:pPr>
            <a:r>
              <a:rPr sz="1000" b="0">
                <a:solidFill>
                  <a:srgbClr val="B0BAD4"/>
                </a:solidFill>
              </a:rPr>
              <a:t>  AI: "Dr. Anita Sharma teaches DBMS (CS603). Office: Room 202. Email: anita.sharma@dit.edu"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98448"/>
          </a:xfrm>
          <a:prstGeom prst="rect">
            <a:avLst/>
          </a:prstGeom>
          <a:solidFill>
            <a:srgbClr val="0D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094476" cy="64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4476" y="0"/>
            <a:ext cx="6094476"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09728"/>
            <a:ext cx="11430000" cy="685800"/>
          </a:xfrm>
          <a:prstGeom prst="rect">
            <a:avLst/>
          </a:prstGeom>
          <a:noFill/>
        </p:spPr>
        <p:txBody>
          <a:bodyPr wrap="square">
            <a:spAutoFit/>
          </a:bodyPr>
          <a:lstStyle/>
          <a:p>
            <a:pPr algn="l"/>
            <a:r>
              <a:rPr sz="2900" b="1">
                <a:solidFill>
                  <a:srgbClr val="FFFFFF"/>
                </a:solidFill>
              </a:rPr>
              <a:t>Market Opportunity</a:t>
            </a:r>
          </a:p>
        </p:txBody>
      </p:sp>
      <p:sp>
        <p:nvSpPr>
          <p:cNvPr id="6" name="TextBox 5"/>
          <p:cNvSpPr txBox="1"/>
          <p:nvPr/>
        </p:nvSpPr>
        <p:spPr>
          <a:xfrm>
            <a:off x="365760" y="768096"/>
            <a:ext cx="11430000" cy="420624"/>
          </a:xfrm>
          <a:prstGeom prst="rect">
            <a:avLst/>
          </a:prstGeom>
          <a:noFill/>
        </p:spPr>
        <p:txBody>
          <a:bodyPr wrap="square">
            <a:spAutoFit/>
          </a:bodyPr>
          <a:lstStyle/>
          <a:p>
            <a:pPr algn="l"/>
            <a:r>
              <a:rPr sz="1250" b="0">
                <a:solidFill>
                  <a:srgbClr val="B0BAD4"/>
                </a:solidFill>
              </a:rPr>
              <a:t>A massive, underserved market at the intersection of AI and Education Technology</a:t>
            </a:r>
          </a:p>
        </p:txBody>
      </p:sp>
      <p:sp>
        <p:nvSpPr>
          <p:cNvPr id="7" name="Rectangle 6"/>
          <p:cNvSpPr/>
          <p:nvPr/>
        </p:nvSpPr>
        <p:spPr>
          <a:xfrm>
            <a:off x="365760" y="1225296"/>
            <a:ext cx="2514600" cy="457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880360" y="1225296"/>
            <a:ext cx="2514600"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371600"/>
            <a:ext cx="2816352" cy="1719072"/>
          </a:xfrm>
          <a:prstGeom prst="rect">
            <a:avLst/>
          </a:prstGeom>
          <a:solidFill>
            <a:srgbClr val="0C1426"/>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444752"/>
            <a:ext cx="2651760" cy="749808"/>
          </a:xfrm>
          <a:prstGeom prst="rect">
            <a:avLst/>
          </a:prstGeom>
          <a:noFill/>
        </p:spPr>
        <p:txBody>
          <a:bodyPr wrap="square">
            <a:spAutoFit/>
          </a:bodyPr>
          <a:lstStyle/>
          <a:p>
            <a:pPr algn="ctr"/>
            <a:r>
              <a:rPr sz="3200" b="1">
                <a:solidFill>
                  <a:srgbClr val="6366F1"/>
                </a:solidFill>
              </a:rPr>
              <a:t>$400B+</a:t>
            </a:r>
          </a:p>
        </p:txBody>
      </p:sp>
      <p:sp>
        <p:nvSpPr>
          <p:cNvPr id="11" name="TextBox 10"/>
          <p:cNvSpPr txBox="1"/>
          <p:nvPr/>
        </p:nvSpPr>
        <p:spPr>
          <a:xfrm>
            <a:off x="457200" y="2157984"/>
            <a:ext cx="2651760" cy="777240"/>
          </a:xfrm>
          <a:prstGeom prst="rect">
            <a:avLst/>
          </a:prstGeom>
          <a:noFill/>
        </p:spPr>
        <p:txBody>
          <a:bodyPr wrap="square">
            <a:spAutoFit/>
          </a:bodyPr>
          <a:lstStyle/>
          <a:p>
            <a:pPr algn="ctr"/>
            <a:r>
              <a:rPr sz="1100" b="0">
                <a:solidFill>
                  <a:srgbClr val="B0BAD4"/>
                </a:solidFill>
              </a:rPr>
              <a:t>Global EdTech
market by 2030</a:t>
            </a:r>
          </a:p>
        </p:txBody>
      </p:sp>
      <p:sp>
        <p:nvSpPr>
          <p:cNvPr id="12" name="Rectangle 11"/>
          <p:cNvSpPr/>
          <p:nvPr/>
        </p:nvSpPr>
        <p:spPr>
          <a:xfrm>
            <a:off x="3319272" y="1371600"/>
            <a:ext cx="2816352" cy="1719072"/>
          </a:xfrm>
          <a:prstGeom prst="rect">
            <a:avLst/>
          </a:prstGeom>
          <a:solidFill>
            <a:srgbClr val="0C142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10712" y="1444752"/>
            <a:ext cx="2651760" cy="749808"/>
          </a:xfrm>
          <a:prstGeom prst="rect">
            <a:avLst/>
          </a:prstGeom>
          <a:noFill/>
        </p:spPr>
        <p:txBody>
          <a:bodyPr wrap="square">
            <a:spAutoFit/>
          </a:bodyPr>
          <a:lstStyle/>
          <a:p>
            <a:pPr algn="ctr"/>
            <a:r>
              <a:rPr sz="3200" b="1">
                <a:solidFill>
                  <a:srgbClr val="06B6D4"/>
                </a:solidFill>
              </a:rPr>
              <a:t>220 Mn</a:t>
            </a:r>
          </a:p>
        </p:txBody>
      </p:sp>
      <p:sp>
        <p:nvSpPr>
          <p:cNvPr id="14" name="TextBox 13"/>
          <p:cNvSpPr txBox="1"/>
          <p:nvPr/>
        </p:nvSpPr>
        <p:spPr>
          <a:xfrm>
            <a:off x="3410712" y="2157984"/>
            <a:ext cx="2651760" cy="777240"/>
          </a:xfrm>
          <a:prstGeom prst="rect">
            <a:avLst/>
          </a:prstGeom>
          <a:noFill/>
        </p:spPr>
        <p:txBody>
          <a:bodyPr wrap="square">
            <a:spAutoFit/>
          </a:bodyPr>
          <a:lstStyle/>
          <a:p>
            <a:pPr algn="ctr"/>
            <a:r>
              <a:rPr sz="1100" b="0">
                <a:solidFill>
                  <a:srgbClr val="B0BAD4"/>
                </a:solidFill>
              </a:rPr>
              <a:t>Higher education
students in India</a:t>
            </a:r>
          </a:p>
        </p:txBody>
      </p:sp>
      <p:sp>
        <p:nvSpPr>
          <p:cNvPr id="15" name="Rectangle 14"/>
          <p:cNvSpPr/>
          <p:nvPr/>
        </p:nvSpPr>
        <p:spPr>
          <a:xfrm>
            <a:off x="6272784" y="1371600"/>
            <a:ext cx="2816352" cy="1719072"/>
          </a:xfrm>
          <a:prstGeom prst="rect">
            <a:avLst/>
          </a:prstGeom>
          <a:solidFill>
            <a:srgbClr val="0C1426"/>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64224" y="1444752"/>
            <a:ext cx="2651760" cy="749808"/>
          </a:xfrm>
          <a:prstGeom prst="rect">
            <a:avLst/>
          </a:prstGeom>
          <a:noFill/>
        </p:spPr>
        <p:txBody>
          <a:bodyPr wrap="square">
            <a:spAutoFit/>
          </a:bodyPr>
          <a:lstStyle/>
          <a:p>
            <a:pPr algn="ctr"/>
            <a:r>
              <a:rPr sz="3200" b="1">
                <a:solidFill>
                  <a:srgbClr val="A855F7"/>
                </a:solidFill>
              </a:rPr>
              <a:t>50,000+</a:t>
            </a:r>
          </a:p>
        </p:txBody>
      </p:sp>
      <p:sp>
        <p:nvSpPr>
          <p:cNvPr id="17" name="TextBox 16"/>
          <p:cNvSpPr txBox="1"/>
          <p:nvPr/>
        </p:nvSpPr>
        <p:spPr>
          <a:xfrm>
            <a:off x="6364224" y="2157984"/>
            <a:ext cx="2651760" cy="777240"/>
          </a:xfrm>
          <a:prstGeom prst="rect">
            <a:avLst/>
          </a:prstGeom>
          <a:noFill/>
        </p:spPr>
        <p:txBody>
          <a:bodyPr wrap="square">
            <a:spAutoFit/>
          </a:bodyPr>
          <a:lstStyle/>
          <a:p>
            <a:pPr algn="ctr"/>
            <a:r>
              <a:rPr sz="1100" b="0">
                <a:solidFill>
                  <a:srgbClr val="B0BAD4"/>
                </a:solidFill>
              </a:rPr>
              <a:t>Colleges &amp;
universities in India</a:t>
            </a:r>
          </a:p>
        </p:txBody>
      </p:sp>
      <p:sp>
        <p:nvSpPr>
          <p:cNvPr id="18" name="Rectangle 17"/>
          <p:cNvSpPr/>
          <p:nvPr/>
        </p:nvSpPr>
        <p:spPr>
          <a:xfrm>
            <a:off x="9226296" y="1371600"/>
            <a:ext cx="2816352" cy="1719072"/>
          </a:xfrm>
          <a:prstGeom prst="rect">
            <a:avLst/>
          </a:prstGeom>
          <a:solidFill>
            <a:srgbClr val="0C1426"/>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17736" y="1444752"/>
            <a:ext cx="2651760" cy="749808"/>
          </a:xfrm>
          <a:prstGeom prst="rect">
            <a:avLst/>
          </a:prstGeom>
          <a:noFill/>
        </p:spPr>
        <p:txBody>
          <a:bodyPr wrap="square">
            <a:spAutoFit/>
          </a:bodyPr>
          <a:lstStyle/>
          <a:p>
            <a:pPr algn="ctr"/>
            <a:r>
              <a:rPr sz="3200" b="1">
                <a:solidFill>
                  <a:srgbClr val="F5A623"/>
                </a:solidFill>
              </a:rPr>
              <a:t>38%</a:t>
            </a:r>
          </a:p>
        </p:txBody>
      </p:sp>
      <p:sp>
        <p:nvSpPr>
          <p:cNvPr id="20" name="TextBox 19"/>
          <p:cNvSpPr txBox="1"/>
          <p:nvPr/>
        </p:nvSpPr>
        <p:spPr>
          <a:xfrm>
            <a:off x="9317736" y="2157984"/>
            <a:ext cx="2651760" cy="777240"/>
          </a:xfrm>
          <a:prstGeom prst="rect">
            <a:avLst/>
          </a:prstGeom>
          <a:noFill/>
        </p:spPr>
        <p:txBody>
          <a:bodyPr wrap="square">
            <a:spAutoFit/>
          </a:bodyPr>
          <a:lstStyle/>
          <a:p>
            <a:pPr algn="ctr"/>
            <a:r>
              <a:rPr sz="1100" b="0">
                <a:solidFill>
                  <a:srgbClr val="B0BAD4"/>
                </a:solidFill>
              </a:rPr>
              <a:t>CAGR of AI
in EdTech sector</a:t>
            </a:r>
          </a:p>
        </p:txBody>
      </p:sp>
      <p:sp>
        <p:nvSpPr>
          <p:cNvPr id="21" name="Rectangle 20"/>
          <p:cNvSpPr/>
          <p:nvPr/>
        </p:nvSpPr>
        <p:spPr>
          <a:xfrm>
            <a:off x="365760" y="3218688"/>
            <a:ext cx="5486400" cy="3401568"/>
          </a:xfrm>
          <a:prstGeom prst="rect">
            <a:avLst/>
          </a:prstGeom>
          <a:solidFill>
            <a:srgbClr val="0C1426"/>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65760" y="3218688"/>
            <a:ext cx="5486400" cy="42062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75488" y="3273552"/>
            <a:ext cx="5303520" cy="329184"/>
          </a:xfrm>
          <a:prstGeom prst="rect">
            <a:avLst/>
          </a:prstGeom>
          <a:noFill/>
        </p:spPr>
        <p:txBody>
          <a:bodyPr wrap="square">
            <a:spAutoFit/>
          </a:bodyPr>
          <a:lstStyle/>
          <a:p>
            <a:pPr algn="l"/>
            <a:r>
              <a:rPr sz="1300" b="1">
                <a:solidFill>
                  <a:srgbClr val="FFFFFF"/>
                </a:solidFill>
              </a:rPr>
              <a:t>  Why Now? Market Drivers</a:t>
            </a:r>
          </a:p>
        </p:txBody>
      </p:sp>
      <p:sp>
        <p:nvSpPr>
          <p:cNvPr id="24" name="TextBox 23"/>
          <p:cNvSpPr txBox="1"/>
          <p:nvPr/>
        </p:nvSpPr>
        <p:spPr>
          <a:xfrm>
            <a:off x="502920" y="3703320"/>
            <a:ext cx="5257800" cy="2834640"/>
          </a:xfrm>
          <a:prstGeom prst="rect">
            <a:avLst/>
          </a:prstGeom>
          <a:noFill/>
        </p:spPr>
        <p:txBody>
          <a:bodyPr wrap="square">
            <a:spAutoFit/>
          </a:bodyPr>
          <a:lstStyle/>
          <a:p>
            <a:pPr>
              <a:spcAft>
                <a:spcPts val="300"/>
              </a:spcAft>
            </a:pPr>
            <a:r>
              <a:rPr sz="1100" b="1">
                <a:solidFill>
                  <a:srgbClr val="6366F1"/>
                </a:solidFill>
              </a:rPr>
              <a:t>  NEP 2020 Mandate</a:t>
            </a:r>
          </a:p>
          <a:p>
            <a:pPr>
              <a:spcAft>
                <a:spcPts val="300"/>
              </a:spcAft>
            </a:pPr>
            <a:r>
              <a:rPr sz="1000" b="0">
                <a:solidFill>
                  <a:srgbClr val="B0BAD4"/>
                </a:solidFill>
              </a:rPr>
              <a:t>  India's National Education Policy mandates digital infrastructure upgrades for all institutions — creating a Rs.90,000+ Cr procurement opportunity over 5 years.</a:t>
            </a:r>
          </a:p>
          <a:p>
            <a:pPr>
              <a:spcAft>
                <a:spcPts val="300"/>
              </a:spcAft>
            </a:pPr>
            <a:endParaRPr sz="1000" b="0">
              <a:solidFill>
                <a:srgbClr val="B0BAD4"/>
              </a:solidFill>
            </a:endParaRPr>
          </a:p>
          <a:p>
            <a:pPr>
              <a:spcAft>
                <a:spcPts val="300"/>
              </a:spcAft>
            </a:pPr>
            <a:r>
              <a:rPr sz="1100" b="1">
                <a:solidFill>
                  <a:srgbClr val="6366F1"/>
                </a:solidFill>
              </a:rPr>
              <a:t>  Legacy ERP Failure</a:t>
            </a:r>
          </a:p>
          <a:p>
            <a:pPr>
              <a:spcAft>
                <a:spcPts val="300"/>
              </a:spcAft>
            </a:pPr>
            <a:r>
              <a:rPr sz="1000" b="0">
                <a:solidFill>
                  <a:srgbClr val="B0BAD4"/>
                </a:solidFill>
              </a:rPr>
              <a:t>  73% of Indian colleges run ERPs built before 2015, with no mobile support, no AI, and no modern UX. Replacement demand is at an all-time high.</a:t>
            </a:r>
          </a:p>
          <a:p>
            <a:pPr>
              <a:spcAft>
                <a:spcPts val="300"/>
              </a:spcAft>
            </a:pPr>
            <a:endParaRPr sz="1000" b="0">
              <a:solidFill>
                <a:srgbClr val="B0BAD4"/>
              </a:solidFill>
            </a:endParaRPr>
          </a:p>
          <a:p>
            <a:pPr>
              <a:spcAft>
                <a:spcPts val="300"/>
              </a:spcAft>
            </a:pPr>
            <a:r>
              <a:rPr sz="1100" b="1">
                <a:solidFill>
                  <a:srgbClr val="6366F1"/>
                </a:solidFill>
              </a:rPr>
              <a:t>  Post-Pandemic Digital Shift</a:t>
            </a:r>
          </a:p>
          <a:p>
            <a:pPr>
              <a:spcAft>
                <a:spcPts val="300"/>
              </a:spcAft>
            </a:pPr>
            <a:r>
              <a:rPr sz="1000" b="0">
                <a:solidFill>
                  <a:srgbClr val="B0BAD4"/>
                </a:solidFill>
              </a:rPr>
              <a:t>  COVID-19 permanently accelerated digital adoption. Institutions that resisted are now under board-level pressure to modernize their student experience.</a:t>
            </a:r>
          </a:p>
          <a:p>
            <a:pPr>
              <a:spcAft>
                <a:spcPts val="300"/>
              </a:spcAft>
            </a:pPr>
            <a:endParaRPr sz="1000" b="0">
              <a:solidFill>
                <a:srgbClr val="B0BAD4"/>
              </a:solidFill>
            </a:endParaRPr>
          </a:p>
          <a:p>
            <a:pPr>
              <a:spcAft>
                <a:spcPts val="300"/>
              </a:spcAft>
            </a:pPr>
            <a:r>
              <a:rPr sz="1100" b="1">
                <a:solidFill>
                  <a:srgbClr val="6366F1"/>
                </a:solidFill>
              </a:rPr>
              <a:t>  AI Democratization</a:t>
            </a:r>
          </a:p>
          <a:p>
            <a:pPr>
              <a:spcAft>
                <a:spcPts val="300"/>
              </a:spcAft>
            </a:pPr>
            <a:r>
              <a:rPr sz="1000" b="0">
                <a:solidFill>
                  <a:srgbClr val="B0BAD4"/>
                </a:solidFill>
              </a:rPr>
              <a:t>  Google Gemini API, Razorpay, and Next.js are now accessible to small teams. We can deliver enterprise-grade AI at startup cost.</a:t>
            </a:r>
          </a:p>
        </p:txBody>
      </p:sp>
      <p:sp>
        <p:nvSpPr>
          <p:cNvPr id="25" name="Rectangle 24"/>
          <p:cNvSpPr/>
          <p:nvPr/>
        </p:nvSpPr>
        <p:spPr>
          <a:xfrm>
            <a:off x="6217920" y="3218688"/>
            <a:ext cx="5577840" cy="3401568"/>
          </a:xfrm>
          <a:prstGeom prst="rect">
            <a:avLst/>
          </a:prstGeom>
          <a:solidFill>
            <a:srgbClr val="0C142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17920" y="3218688"/>
            <a:ext cx="5577840" cy="42062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27648" y="3273552"/>
            <a:ext cx="5376672" cy="329184"/>
          </a:xfrm>
          <a:prstGeom prst="rect">
            <a:avLst/>
          </a:prstGeom>
          <a:noFill/>
        </p:spPr>
        <p:txBody>
          <a:bodyPr wrap="square">
            <a:spAutoFit/>
          </a:bodyPr>
          <a:lstStyle/>
          <a:p>
            <a:pPr algn="l"/>
            <a:r>
              <a:rPr sz="1300" b="1">
                <a:solidFill>
                  <a:srgbClr val="FFFFFF"/>
                </a:solidFill>
              </a:rPr>
              <a:t>  Business Model &amp; Target Segments</a:t>
            </a:r>
          </a:p>
        </p:txBody>
      </p:sp>
      <p:sp>
        <p:nvSpPr>
          <p:cNvPr id="28" name="TextBox 27"/>
          <p:cNvSpPr txBox="1"/>
          <p:nvPr/>
        </p:nvSpPr>
        <p:spPr>
          <a:xfrm>
            <a:off x="6355080" y="3703320"/>
            <a:ext cx="5349240" cy="2834640"/>
          </a:xfrm>
          <a:prstGeom prst="rect">
            <a:avLst/>
          </a:prstGeom>
          <a:noFill/>
        </p:spPr>
        <p:txBody>
          <a:bodyPr wrap="square">
            <a:spAutoFit/>
          </a:bodyPr>
          <a:lstStyle/>
          <a:p>
            <a:pPr>
              <a:spcAft>
                <a:spcPts val="300"/>
              </a:spcAft>
            </a:pPr>
            <a:r>
              <a:rPr sz="1100" b="1">
                <a:solidFill>
                  <a:srgbClr val="06B6D4"/>
                </a:solidFill>
              </a:rPr>
              <a:t>  Primary Target</a:t>
            </a:r>
          </a:p>
          <a:p>
            <a:pPr>
              <a:spcAft>
                <a:spcPts val="300"/>
              </a:spcAft>
            </a:pPr>
            <a:r>
              <a:rPr sz="1000" b="0">
                <a:solidFill>
                  <a:srgbClr val="B0BAD4"/>
                </a:solidFill>
              </a:rPr>
              <a:t>  Engineering colleges and degree universities (1,000-20,000 students) across Tier 1, 2, and 3 cities in India — the most underserved segment.</a:t>
            </a:r>
          </a:p>
          <a:p>
            <a:pPr>
              <a:spcAft>
                <a:spcPts val="300"/>
              </a:spcAft>
            </a:pPr>
            <a:endParaRPr sz="1000" b="0">
              <a:solidFill>
                <a:srgbClr val="B0BAD4"/>
              </a:solidFill>
            </a:endParaRPr>
          </a:p>
          <a:p>
            <a:pPr>
              <a:spcAft>
                <a:spcPts val="300"/>
              </a:spcAft>
            </a:pPr>
            <a:r>
              <a:rPr sz="1100" b="1">
                <a:solidFill>
                  <a:srgbClr val="06B6D4"/>
                </a:solidFill>
              </a:rPr>
              <a:t>  Secondary Target</a:t>
            </a:r>
          </a:p>
          <a:p>
            <a:pPr>
              <a:spcAft>
                <a:spcPts val="300"/>
              </a:spcAft>
            </a:pPr>
            <a:r>
              <a:rPr sz="1000" b="0">
                <a:solidFill>
                  <a:srgbClr val="B0BAD4"/>
                </a:solidFill>
              </a:rPr>
              <a:t>  K-12 schools, vocational institutes, and coaching chains needing attendance, fee, and communication management tools.</a:t>
            </a:r>
          </a:p>
          <a:p>
            <a:pPr>
              <a:spcAft>
                <a:spcPts val="300"/>
              </a:spcAft>
            </a:pPr>
            <a:endParaRPr sz="1000" b="0">
              <a:solidFill>
                <a:srgbClr val="B0BAD4"/>
              </a:solidFill>
            </a:endParaRPr>
          </a:p>
          <a:p>
            <a:pPr>
              <a:spcAft>
                <a:spcPts val="300"/>
              </a:spcAft>
            </a:pPr>
            <a:r>
              <a:rPr sz="1100" b="1">
                <a:solidFill>
                  <a:srgbClr val="06B6D4"/>
                </a:solidFill>
              </a:rPr>
              <a:t>  Revenue Model</a:t>
            </a:r>
          </a:p>
          <a:p>
            <a:pPr>
              <a:spcAft>
                <a:spcPts val="300"/>
              </a:spcAft>
            </a:pPr>
            <a:r>
              <a:rPr sz="1000" b="0">
                <a:solidFill>
                  <a:srgbClr val="B0BAD4"/>
                </a:solidFill>
              </a:rPr>
              <a:t>  SaaS subscription per institution (Rs.2-8L/yr) + per-student licensing (Rs.200-500/student/yr) + premium AI module add-on + state board enterprise contracts.</a:t>
            </a:r>
          </a:p>
          <a:p>
            <a:pPr>
              <a:spcAft>
                <a:spcPts val="300"/>
              </a:spcAft>
            </a:pPr>
            <a:endParaRPr sz="1000" b="0">
              <a:solidFill>
                <a:srgbClr val="B0BAD4"/>
              </a:solidFill>
            </a:endParaRPr>
          </a:p>
          <a:p>
            <a:pPr>
              <a:spcAft>
                <a:spcPts val="300"/>
              </a:spcAft>
            </a:pPr>
            <a:r>
              <a:rPr sz="1100" b="1">
                <a:solidFill>
                  <a:srgbClr val="06B6D4"/>
                </a:solidFill>
              </a:rPr>
              <a:t>  Competitive Advantage</a:t>
            </a:r>
          </a:p>
          <a:p>
            <a:pPr>
              <a:spcAft>
                <a:spcPts val="300"/>
              </a:spcAft>
            </a:pPr>
            <a:r>
              <a:rPr sz="1000" b="0">
                <a:solidFill>
                  <a:srgbClr val="B0BAD4"/>
                </a:solidFill>
              </a:rPr>
              <a:t>  No existing Indian ERP combines Gemini AI + Razorpay + glassmorphism UI + real-time analytics in one affordable, deployable package.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98448"/>
          </a:xfrm>
          <a:prstGeom prst="rect">
            <a:avLst/>
          </a:prstGeom>
          <a:solidFill>
            <a:srgbClr val="0D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094476" cy="64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4476" y="0"/>
            <a:ext cx="6094476"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09728"/>
            <a:ext cx="11430000" cy="685800"/>
          </a:xfrm>
          <a:prstGeom prst="rect">
            <a:avLst/>
          </a:prstGeom>
          <a:noFill/>
        </p:spPr>
        <p:txBody>
          <a:bodyPr wrap="square">
            <a:spAutoFit/>
          </a:bodyPr>
          <a:lstStyle/>
          <a:p>
            <a:pPr algn="l"/>
            <a:r>
              <a:rPr sz="2900" b="1">
                <a:solidFill>
                  <a:srgbClr val="FFFFFF"/>
                </a:solidFill>
              </a:rPr>
              <a:t>Implementation Plan: How We Will Build It</a:t>
            </a:r>
          </a:p>
        </p:txBody>
      </p:sp>
      <p:sp>
        <p:nvSpPr>
          <p:cNvPr id="6" name="TextBox 5"/>
          <p:cNvSpPr txBox="1"/>
          <p:nvPr/>
        </p:nvSpPr>
        <p:spPr>
          <a:xfrm>
            <a:off x="365760" y="768096"/>
            <a:ext cx="11430000" cy="420624"/>
          </a:xfrm>
          <a:prstGeom prst="rect">
            <a:avLst/>
          </a:prstGeom>
          <a:noFill/>
        </p:spPr>
        <p:txBody>
          <a:bodyPr wrap="square">
            <a:spAutoFit/>
          </a:bodyPr>
          <a:lstStyle/>
          <a:p>
            <a:pPr algn="l"/>
            <a:r>
              <a:rPr sz="1250" b="0">
                <a:solidFill>
                  <a:srgbClr val="B0BAD4"/>
                </a:solidFill>
              </a:rPr>
              <a:t>A structured 8-hour hackathon execution plan — from setup to final demo</a:t>
            </a:r>
          </a:p>
        </p:txBody>
      </p:sp>
      <p:sp>
        <p:nvSpPr>
          <p:cNvPr id="7" name="Rectangle 6"/>
          <p:cNvSpPr/>
          <p:nvPr/>
        </p:nvSpPr>
        <p:spPr>
          <a:xfrm>
            <a:off x="365760" y="1225296"/>
            <a:ext cx="2514600" cy="457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880360" y="1225296"/>
            <a:ext cx="2514600"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371600"/>
            <a:ext cx="2194560" cy="5230368"/>
          </a:xfrm>
          <a:prstGeom prst="rect">
            <a:avLst/>
          </a:prstGeom>
          <a:solidFill>
            <a:srgbClr val="0C1426"/>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20040" y="1371600"/>
            <a:ext cx="2194560" cy="8412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79" y="1408176"/>
            <a:ext cx="2029968" cy="786384"/>
          </a:xfrm>
          <a:prstGeom prst="rect">
            <a:avLst/>
          </a:prstGeom>
          <a:noFill/>
        </p:spPr>
        <p:txBody>
          <a:bodyPr wrap="square">
            <a:spAutoFit/>
          </a:bodyPr>
          <a:lstStyle/>
          <a:p>
            <a:pPr algn="ctr"/>
            <a:r>
              <a:rPr sz="1200" b="1">
                <a:solidFill>
                  <a:srgbClr val="FFFFFF"/>
                </a:solidFill>
              </a:rPr>
              <a:t>Hour 0-2
Project Setup</a:t>
            </a:r>
          </a:p>
        </p:txBody>
      </p:sp>
      <p:sp>
        <p:nvSpPr>
          <p:cNvPr id="12" name="Rectangle 11"/>
          <p:cNvSpPr/>
          <p:nvPr/>
        </p:nvSpPr>
        <p:spPr>
          <a:xfrm>
            <a:off x="429768" y="2340864"/>
            <a:ext cx="2011680" cy="713232"/>
          </a:xfrm>
          <a:prstGeom prst="rect">
            <a:avLst/>
          </a:prstGeom>
          <a:solidFill>
            <a:srgbClr val="081022"/>
          </a:solidFill>
          <a:ln w="762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2450592"/>
            <a:ext cx="1874519" cy="530352"/>
          </a:xfrm>
          <a:prstGeom prst="rect">
            <a:avLst/>
          </a:prstGeom>
          <a:noFill/>
        </p:spPr>
        <p:txBody>
          <a:bodyPr wrap="square">
            <a:spAutoFit/>
          </a:bodyPr>
          <a:lstStyle/>
          <a:p>
            <a:pPr algn="l"/>
            <a:r>
              <a:rPr sz="1000" b="0">
                <a:solidFill>
                  <a:srgbClr val="B0BAD4"/>
                </a:solidFill>
              </a:rPr>
              <a:t>Initialize Next.js 14 project</a:t>
            </a:r>
          </a:p>
        </p:txBody>
      </p:sp>
      <p:sp>
        <p:nvSpPr>
          <p:cNvPr id="14" name="Rectangle 13"/>
          <p:cNvSpPr/>
          <p:nvPr/>
        </p:nvSpPr>
        <p:spPr>
          <a:xfrm>
            <a:off x="429768" y="3163824"/>
            <a:ext cx="2011680" cy="713232"/>
          </a:xfrm>
          <a:prstGeom prst="rect">
            <a:avLst/>
          </a:prstGeom>
          <a:solidFill>
            <a:srgbClr val="081022"/>
          </a:solidFill>
          <a:ln w="762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3273552"/>
            <a:ext cx="1874519" cy="530352"/>
          </a:xfrm>
          <a:prstGeom prst="rect">
            <a:avLst/>
          </a:prstGeom>
          <a:noFill/>
        </p:spPr>
        <p:txBody>
          <a:bodyPr wrap="square">
            <a:spAutoFit/>
          </a:bodyPr>
          <a:lstStyle/>
          <a:p>
            <a:pPr algn="l"/>
            <a:r>
              <a:rPr sz="1000" b="0">
                <a:solidFill>
                  <a:srgbClr val="B0BAD4"/>
                </a:solidFill>
              </a:rPr>
              <a:t>Configure TypeScript &amp; ESLint</a:t>
            </a:r>
          </a:p>
        </p:txBody>
      </p:sp>
      <p:sp>
        <p:nvSpPr>
          <p:cNvPr id="16" name="Rectangle 15"/>
          <p:cNvSpPr/>
          <p:nvPr/>
        </p:nvSpPr>
        <p:spPr>
          <a:xfrm>
            <a:off x="429768" y="3986784"/>
            <a:ext cx="2011680" cy="713232"/>
          </a:xfrm>
          <a:prstGeom prst="rect">
            <a:avLst/>
          </a:prstGeom>
          <a:solidFill>
            <a:srgbClr val="081022"/>
          </a:solidFill>
          <a:ln w="762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4096512"/>
            <a:ext cx="1874519" cy="530352"/>
          </a:xfrm>
          <a:prstGeom prst="rect">
            <a:avLst/>
          </a:prstGeom>
          <a:noFill/>
        </p:spPr>
        <p:txBody>
          <a:bodyPr wrap="square">
            <a:spAutoFit/>
          </a:bodyPr>
          <a:lstStyle/>
          <a:p>
            <a:pPr algn="l"/>
            <a:r>
              <a:rPr sz="1000" b="0">
                <a:solidFill>
                  <a:srgbClr val="B0BAD4"/>
                </a:solidFill>
              </a:rPr>
              <a:t>Build global CSS design system</a:t>
            </a:r>
          </a:p>
        </p:txBody>
      </p:sp>
      <p:sp>
        <p:nvSpPr>
          <p:cNvPr id="18" name="Rectangle 17"/>
          <p:cNvSpPr/>
          <p:nvPr/>
        </p:nvSpPr>
        <p:spPr>
          <a:xfrm>
            <a:off x="429768" y="4809744"/>
            <a:ext cx="2011680" cy="713232"/>
          </a:xfrm>
          <a:prstGeom prst="rect">
            <a:avLst/>
          </a:prstGeom>
          <a:solidFill>
            <a:srgbClr val="081022"/>
          </a:solidFill>
          <a:ln w="762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4919472"/>
            <a:ext cx="1874519" cy="530352"/>
          </a:xfrm>
          <a:prstGeom prst="rect">
            <a:avLst/>
          </a:prstGeom>
          <a:noFill/>
        </p:spPr>
        <p:txBody>
          <a:bodyPr wrap="square">
            <a:spAutoFit/>
          </a:bodyPr>
          <a:lstStyle/>
          <a:p>
            <a:pPr algn="l"/>
            <a:r>
              <a:rPr sz="1000" b="0">
                <a:solidFill>
                  <a:srgbClr val="B0BAD4"/>
                </a:solidFill>
              </a:rPr>
              <a:t>Set up folder structure &amp; roles</a:t>
            </a:r>
          </a:p>
        </p:txBody>
      </p:sp>
      <p:sp>
        <p:nvSpPr>
          <p:cNvPr id="20" name="Rectangle 19"/>
          <p:cNvSpPr/>
          <p:nvPr/>
        </p:nvSpPr>
        <p:spPr>
          <a:xfrm>
            <a:off x="429768" y="5632704"/>
            <a:ext cx="2011680" cy="713232"/>
          </a:xfrm>
          <a:prstGeom prst="rect">
            <a:avLst/>
          </a:prstGeom>
          <a:solidFill>
            <a:srgbClr val="081022"/>
          </a:solidFill>
          <a:ln w="762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5742432"/>
            <a:ext cx="1874519" cy="530352"/>
          </a:xfrm>
          <a:prstGeom prst="rect">
            <a:avLst/>
          </a:prstGeom>
          <a:noFill/>
        </p:spPr>
        <p:txBody>
          <a:bodyPr wrap="square">
            <a:spAutoFit/>
          </a:bodyPr>
          <a:lstStyle/>
          <a:p>
            <a:pPr algn="l"/>
            <a:r>
              <a:rPr sz="1000" b="0">
                <a:solidFill>
                  <a:srgbClr val="B0BAD4"/>
                </a:solidFill>
              </a:rPr>
              <a:t>Create navigation &amp; layout shells</a:t>
            </a:r>
          </a:p>
        </p:txBody>
      </p:sp>
      <p:sp>
        <p:nvSpPr>
          <p:cNvPr id="22" name="Rectangle 21"/>
          <p:cNvSpPr/>
          <p:nvPr/>
        </p:nvSpPr>
        <p:spPr>
          <a:xfrm>
            <a:off x="2642616" y="1371600"/>
            <a:ext cx="2194560" cy="5230368"/>
          </a:xfrm>
          <a:prstGeom prst="rect">
            <a:avLst/>
          </a:prstGeom>
          <a:solidFill>
            <a:srgbClr val="0C142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642616" y="1371600"/>
            <a:ext cx="2194560" cy="84124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734056" y="1408176"/>
            <a:ext cx="2029968" cy="786384"/>
          </a:xfrm>
          <a:prstGeom prst="rect">
            <a:avLst/>
          </a:prstGeom>
          <a:noFill/>
        </p:spPr>
        <p:txBody>
          <a:bodyPr wrap="square">
            <a:spAutoFit/>
          </a:bodyPr>
          <a:lstStyle/>
          <a:p>
            <a:pPr algn="ctr"/>
            <a:r>
              <a:rPr sz="1200" b="1">
                <a:solidFill>
                  <a:srgbClr val="FFFFFF"/>
                </a:solidFill>
              </a:rPr>
              <a:t>Hour 2-4
Core Modules</a:t>
            </a:r>
          </a:p>
        </p:txBody>
      </p:sp>
      <p:sp>
        <p:nvSpPr>
          <p:cNvPr id="25" name="Rectangle 24"/>
          <p:cNvSpPr/>
          <p:nvPr/>
        </p:nvSpPr>
        <p:spPr>
          <a:xfrm>
            <a:off x="2752344" y="2340864"/>
            <a:ext cx="2011680" cy="713232"/>
          </a:xfrm>
          <a:prstGeom prst="rect">
            <a:avLst/>
          </a:prstGeom>
          <a:solidFill>
            <a:srgbClr val="081022"/>
          </a:solidFill>
          <a:ln w="762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825496" y="2450592"/>
            <a:ext cx="1874519" cy="530352"/>
          </a:xfrm>
          <a:prstGeom prst="rect">
            <a:avLst/>
          </a:prstGeom>
          <a:noFill/>
        </p:spPr>
        <p:txBody>
          <a:bodyPr wrap="square">
            <a:spAutoFit/>
          </a:bodyPr>
          <a:lstStyle/>
          <a:p>
            <a:pPr algn="l"/>
            <a:r>
              <a:rPr sz="1000" b="0">
                <a:solidFill>
                  <a:srgbClr val="B0BAD4"/>
                </a:solidFill>
              </a:rPr>
              <a:t>Build student dashboard</a:t>
            </a:r>
          </a:p>
        </p:txBody>
      </p:sp>
      <p:sp>
        <p:nvSpPr>
          <p:cNvPr id="27" name="Rectangle 26"/>
          <p:cNvSpPr/>
          <p:nvPr/>
        </p:nvSpPr>
        <p:spPr>
          <a:xfrm>
            <a:off x="2752344" y="3163824"/>
            <a:ext cx="2011680" cy="713232"/>
          </a:xfrm>
          <a:prstGeom prst="rect">
            <a:avLst/>
          </a:prstGeom>
          <a:solidFill>
            <a:srgbClr val="081022"/>
          </a:solidFill>
          <a:ln w="762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825496" y="3273552"/>
            <a:ext cx="1874519" cy="530352"/>
          </a:xfrm>
          <a:prstGeom prst="rect">
            <a:avLst/>
          </a:prstGeom>
          <a:noFill/>
        </p:spPr>
        <p:txBody>
          <a:bodyPr wrap="square">
            <a:spAutoFit/>
          </a:bodyPr>
          <a:lstStyle/>
          <a:p>
            <a:pPr algn="l"/>
            <a:r>
              <a:rPr sz="1000" b="0">
                <a:solidFill>
                  <a:srgbClr val="B0BAD4"/>
                </a:solidFill>
              </a:rPr>
              <a:t>Implement fee payment flow</a:t>
            </a:r>
          </a:p>
        </p:txBody>
      </p:sp>
      <p:sp>
        <p:nvSpPr>
          <p:cNvPr id="29" name="Rectangle 28"/>
          <p:cNvSpPr/>
          <p:nvPr/>
        </p:nvSpPr>
        <p:spPr>
          <a:xfrm>
            <a:off x="2752344" y="3986784"/>
            <a:ext cx="2011680" cy="713232"/>
          </a:xfrm>
          <a:prstGeom prst="rect">
            <a:avLst/>
          </a:prstGeom>
          <a:solidFill>
            <a:srgbClr val="081022"/>
          </a:solidFill>
          <a:ln w="762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825496" y="4096512"/>
            <a:ext cx="1874519" cy="530352"/>
          </a:xfrm>
          <a:prstGeom prst="rect">
            <a:avLst/>
          </a:prstGeom>
          <a:noFill/>
        </p:spPr>
        <p:txBody>
          <a:bodyPr wrap="square">
            <a:spAutoFit/>
          </a:bodyPr>
          <a:lstStyle/>
          <a:p>
            <a:pPr algn="l"/>
            <a:r>
              <a:rPr sz="1000" b="0">
                <a:solidFill>
                  <a:srgbClr val="B0BAD4"/>
                </a:solidFill>
              </a:rPr>
              <a:t>Create exam/hall ticket page</a:t>
            </a:r>
          </a:p>
        </p:txBody>
      </p:sp>
      <p:sp>
        <p:nvSpPr>
          <p:cNvPr id="31" name="Rectangle 30"/>
          <p:cNvSpPr/>
          <p:nvPr/>
        </p:nvSpPr>
        <p:spPr>
          <a:xfrm>
            <a:off x="2752344" y="4809744"/>
            <a:ext cx="2011680" cy="713232"/>
          </a:xfrm>
          <a:prstGeom prst="rect">
            <a:avLst/>
          </a:prstGeom>
          <a:solidFill>
            <a:srgbClr val="081022"/>
          </a:solidFill>
          <a:ln w="762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825496" y="4919472"/>
            <a:ext cx="1874519" cy="530352"/>
          </a:xfrm>
          <a:prstGeom prst="rect">
            <a:avLst/>
          </a:prstGeom>
          <a:noFill/>
        </p:spPr>
        <p:txBody>
          <a:bodyPr wrap="square">
            <a:spAutoFit/>
          </a:bodyPr>
          <a:lstStyle/>
          <a:p>
            <a:pPr algn="l"/>
            <a:r>
              <a:rPr sz="1000" b="0">
                <a:solidFill>
                  <a:srgbClr val="B0BAD4"/>
                </a:solidFill>
              </a:rPr>
              <a:t>Build timetable &amp; attendance UI</a:t>
            </a:r>
          </a:p>
        </p:txBody>
      </p:sp>
      <p:sp>
        <p:nvSpPr>
          <p:cNvPr id="33" name="Rectangle 32"/>
          <p:cNvSpPr/>
          <p:nvPr/>
        </p:nvSpPr>
        <p:spPr>
          <a:xfrm>
            <a:off x="2752344" y="5632704"/>
            <a:ext cx="2011680" cy="713232"/>
          </a:xfrm>
          <a:prstGeom prst="rect">
            <a:avLst/>
          </a:prstGeom>
          <a:solidFill>
            <a:srgbClr val="081022"/>
          </a:solidFill>
          <a:ln w="762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825496" y="5742432"/>
            <a:ext cx="1874519" cy="530352"/>
          </a:xfrm>
          <a:prstGeom prst="rect">
            <a:avLst/>
          </a:prstGeom>
          <a:noFill/>
        </p:spPr>
        <p:txBody>
          <a:bodyPr wrap="square">
            <a:spAutoFit/>
          </a:bodyPr>
          <a:lstStyle/>
          <a:p>
            <a:pPr algn="l"/>
            <a:r>
              <a:rPr sz="1000" b="0">
                <a:solidFill>
                  <a:srgbClr val="B0BAD4"/>
                </a:solidFill>
              </a:rPr>
              <a:t>Implement notice board</a:t>
            </a:r>
          </a:p>
        </p:txBody>
      </p:sp>
      <p:sp>
        <p:nvSpPr>
          <p:cNvPr id="35" name="Rectangle 34"/>
          <p:cNvSpPr/>
          <p:nvPr/>
        </p:nvSpPr>
        <p:spPr>
          <a:xfrm>
            <a:off x="4965192" y="1371600"/>
            <a:ext cx="2194560" cy="5230368"/>
          </a:xfrm>
          <a:prstGeom prst="rect">
            <a:avLst/>
          </a:prstGeom>
          <a:solidFill>
            <a:srgbClr val="0C1426"/>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965192" y="1371600"/>
            <a:ext cx="2194560" cy="841248"/>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56631" y="1408176"/>
            <a:ext cx="2029968" cy="786384"/>
          </a:xfrm>
          <a:prstGeom prst="rect">
            <a:avLst/>
          </a:prstGeom>
          <a:noFill/>
        </p:spPr>
        <p:txBody>
          <a:bodyPr wrap="square">
            <a:spAutoFit/>
          </a:bodyPr>
          <a:lstStyle/>
          <a:p>
            <a:pPr algn="ctr"/>
            <a:r>
              <a:rPr sz="1200" b="1">
                <a:solidFill>
                  <a:srgbClr val="FFFFFF"/>
                </a:solidFill>
              </a:rPr>
              <a:t>Hour 4-6
AI &amp; Payments</a:t>
            </a:r>
          </a:p>
        </p:txBody>
      </p:sp>
      <p:sp>
        <p:nvSpPr>
          <p:cNvPr id="38" name="Rectangle 37"/>
          <p:cNvSpPr/>
          <p:nvPr/>
        </p:nvSpPr>
        <p:spPr>
          <a:xfrm>
            <a:off x="5074920" y="2340864"/>
            <a:ext cx="2011680" cy="713232"/>
          </a:xfrm>
          <a:prstGeom prst="rect">
            <a:avLst/>
          </a:prstGeom>
          <a:solidFill>
            <a:srgbClr val="081022"/>
          </a:solidFill>
          <a:ln w="762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48072" y="2450592"/>
            <a:ext cx="1874519" cy="530352"/>
          </a:xfrm>
          <a:prstGeom prst="rect">
            <a:avLst/>
          </a:prstGeom>
          <a:noFill/>
        </p:spPr>
        <p:txBody>
          <a:bodyPr wrap="square">
            <a:spAutoFit/>
          </a:bodyPr>
          <a:lstStyle/>
          <a:p>
            <a:pPr algn="l"/>
            <a:r>
              <a:rPr sz="1000" b="0">
                <a:solidFill>
                  <a:srgbClr val="B0BAD4"/>
                </a:solidFill>
              </a:rPr>
              <a:t>Integrate Gemini AI API route</a:t>
            </a:r>
          </a:p>
        </p:txBody>
      </p:sp>
      <p:sp>
        <p:nvSpPr>
          <p:cNvPr id="40" name="Rectangle 39"/>
          <p:cNvSpPr/>
          <p:nvPr/>
        </p:nvSpPr>
        <p:spPr>
          <a:xfrm>
            <a:off x="5074920" y="3163824"/>
            <a:ext cx="2011680" cy="713232"/>
          </a:xfrm>
          <a:prstGeom prst="rect">
            <a:avLst/>
          </a:prstGeom>
          <a:solidFill>
            <a:srgbClr val="081022"/>
          </a:solidFill>
          <a:ln w="762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148072" y="3273552"/>
            <a:ext cx="1874519" cy="530352"/>
          </a:xfrm>
          <a:prstGeom prst="rect">
            <a:avLst/>
          </a:prstGeom>
          <a:noFill/>
        </p:spPr>
        <p:txBody>
          <a:bodyPr wrap="square">
            <a:spAutoFit/>
          </a:bodyPr>
          <a:lstStyle/>
          <a:p>
            <a:pPr algn="l"/>
            <a:r>
              <a:rPr sz="1000" b="0">
                <a:solidFill>
                  <a:srgbClr val="B0BAD4"/>
                </a:solidFill>
              </a:rPr>
              <a:t>Implement profile injection logic</a:t>
            </a:r>
          </a:p>
        </p:txBody>
      </p:sp>
      <p:sp>
        <p:nvSpPr>
          <p:cNvPr id="42" name="Rectangle 41"/>
          <p:cNvSpPr/>
          <p:nvPr/>
        </p:nvSpPr>
        <p:spPr>
          <a:xfrm>
            <a:off x="5074920" y="3986784"/>
            <a:ext cx="2011680" cy="713232"/>
          </a:xfrm>
          <a:prstGeom prst="rect">
            <a:avLst/>
          </a:prstGeom>
          <a:solidFill>
            <a:srgbClr val="081022"/>
          </a:solidFill>
          <a:ln w="762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148072" y="4096512"/>
            <a:ext cx="1874519" cy="530352"/>
          </a:xfrm>
          <a:prstGeom prst="rect">
            <a:avLst/>
          </a:prstGeom>
          <a:noFill/>
        </p:spPr>
        <p:txBody>
          <a:bodyPr wrap="square">
            <a:spAutoFit/>
          </a:bodyPr>
          <a:lstStyle/>
          <a:p>
            <a:pPr algn="l"/>
            <a:r>
              <a:rPr sz="1000" b="0">
                <a:solidFill>
                  <a:srgbClr val="B0BAD4"/>
                </a:solidFill>
              </a:rPr>
              <a:t>Build Razorpay order creation</a:t>
            </a:r>
          </a:p>
        </p:txBody>
      </p:sp>
      <p:sp>
        <p:nvSpPr>
          <p:cNvPr id="44" name="Rectangle 43"/>
          <p:cNvSpPr/>
          <p:nvPr/>
        </p:nvSpPr>
        <p:spPr>
          <a:xfrm>
            <a:off x="5074920" y="4809744"/>
            <a:ext cx="2011680" cy="713232"/>
          </a:xfrm>
          <a:prstGeom prst="rect">
            <a:avLst/>
          </a:prstGeom>
          <a:solidFill>
            <a:srgbClr val="081022"/>
          </a:solidFill>
          <a:ln w="762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148072" y="4919472"/>
            <a:ext cx="1874519" cy="530352"/>
          </a:xfrm>
          <a:prstGeom prst="rect">
            <a:avLst/>
          </a:prstGeom>
          <a:noFill/>
        </p:spPr>
        <p:txBody>
          <a:bodyPr wrap="square">
            <a:spAutoFit/>
          </a:bodyPr>
          <a:lstStyle/>
          <a:p>
            <a:pPr algn="l"/>
            <a:r>
              <a:rPr sz="1000" b="0">
                <a:solidFill>
                  <a:srgbClr val="B0BAD4"/>
                </a:solidFill>
              </a:rPr>
              <a:t>Add payment verification flow</a:t>
            </a:r>
          </a:p>
        </p:txBody>
      </p:sp>
      <p:sp>
        <p:nvSpPr>
          <p:cNvPr id="46" name="Rectangle 45"/>
          <p:cNvSpPr/>
          <p:nvPr/>
        </p:nvSpPr>
        <p:spPr>
          <a:xfrm>
            <a:off x="5074920" y="5632704"/>
            <a:ext cx="2011680" cy="713232"/>
          </a:xfrm>
          <a:prstGeom prst="rect">
            <a:avLst/>
          </a:prstGeom>
          <a:solidFill>
            <a:srgbClr val="081022"/>
          </a:solidFill>
          <a:ln w="762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148072" y="5742432"/>
            <a:ext cx="1874519" cy="530352"/>
          </a:xfrm>
          <a:prstGeom prst="rect">
            <a:avLst/>
          </a:prstGeom>
          <a:noFill/>
        </p:spPr>
        <p:txBody>
          <a:bodyPr wrap="square">
            <a:spAutoFit/>
          </a:bodyPr>
          <a:lstStyle/>
          <a:p>
            <a:pPr algn="l"/>
            <a:r>
              <a:rPr sz="1000" b="0">
                <a:solidFill>
                  <a:srgbClr val="B0BAD4"/>
                </a:solidFill>
              </a:rPr>
              <a:t>Create AI chat streaming UI</a:t>
            </a:r>
          </a:p>
        </p:txBody>
      </p:sp>
      <p:sp>
        <p:nvSpPr>
          <p:cNvPr id="48" name="Rectangle 47"/>
          <p:cNvSpPr/>
          <p:nvPr/>
        </p:nvSpPr>
        <p:spPr>
          <a:xfrm>
            <a:off x="7287768" y="1371600"/>
            <a:ext cx="2194560" cy="5230368"/>
          </a:xfrm>
          <a:prstGeom prst="rect">
            <a:avLst/>
          </a:prstGeom>
          <a:solidFill>
            <a:srgbClr val="0C1426"/>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7287768" y="1371600"/>
            <a:ext cx="2194560" cy="84124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79208" y="1408176"/>
            <a:ext cx="2029968" cy="786384"/>
          </a:xfrm>
          <a:prstGeom prst="rect">
            <a:avLst/>
          </a:prstGeom>
          <a:noFill/>
        </p:spPr>
        <p:txBody>
          <a:bodyPr wrap="square">
            <a:spAutoFit/>
          </a:bodyPr>
          <a:lstStyle/>
          <a:p>
            <a:pPr algn="ctr"/>
            <a:r>
              <a:rPr sz="1200" b="1">
                <a:solidFill>
                  <a:srgbClr val="FFFFFF"/>
                </a:solidFill>
              </a:rPr>
              <a:t>Hour 6-7.5
Admin &amp; Polish</a:t>
            </a:r>
          </a:p>
        </p:txBody>
      </p:sp>
      <p:sp>
        <p:nvSpPr>
          <p:cNvPr id="51" name="Rectangle 50"/>
          <p:cNvSpPr/>
          <p:nvPr/>
        </p:nvSpPr>
        <p:spPr>
          <a:xfrm>
            <a:off x="7397496" y="2340864"/>
            <a:ext cx="2011680" cy="713232"/>
          </a:xfrm>
          <a:prstGeom prst="rect">
            <a:avLst/>
          </a:prstGeom>
          <a:solidFill>
            <a:srgbClr val="081022"/>
          </a:solidFill>
          <a:ln w="762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470648" y="2450592"/>
            <a:ext cx="1874519" cy="530352"/>
          </a:xfrm>
          <a:prstGeom prst="rect">
            <a:avLst/>
          </a:prstGeom>
          <a:noFill/>
        </p:spPr>
        <p:txBody>
          <a:bodyPr wrap="square">
            <a:spAutoFit/>
          </a:bodyPr>
          <a:lstStyle/>
          <a:p>
            <a:pPr algn="l"/>
            <a:r>
              <a:rPr sz="1000" b="0">
                <a:solidFill>
                  <a:srgbClr val="B0BAD4"/>
                </a:solidFill>
              </a:rPr>
              <a:t>Build admin dashboard &amp; analytics</a:t>
            </a:r>
          </a:p>
        </p:txBody>
      </p:sp>
      <p:sp>
        <p:nvSpPr>
          <p:cNvPr id="53" name="Rectangle 52"/>
          <p:cNvSpPr/>
          <p:nvPr/>
        </p:nvSpPr>
        <p:spPr>
          <a:xfrm>
            <a:off x="7397496" y="3163824"/>
            <a:ext cx="2011680" cy="713232"/>
          </a:xfrm>
          <a:prstGeom prst="rect">
            <a:avLst/>
          </a:prstGeom>
          <a:solidFill>
            <a:srgbClr val="081022"/>
          </a:solidFill>
          <a:ln w="762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470648" y="3273552"/>
            <a:ext cx="1874519" cy="530352"/>
          </a:xfrm>
          <a:prstGeom prst="rect">
            <a:avLst/>
          </a:prstGeom>
          <a:noFill/>
        </p:spPr>
        <p:txBody>
          <a:bodyPr wrap="square">
            <a:spAutoFit/>
          </a:bodyPr>
          <a:lstStyle/>
          <a:p>
            <a:pPr algn="l"/>
            <a:r>
              <a:rPr sz="1000" b="0">
                <a:solidFill>
                  <a:srgbClr val="B0BAD4"/>
                </a:solidFill>
              </a:rPr>
              <a:t>Implement leave approval workflow</a:t>
            </a:r>
          </a:p>
        </p:txBody>
      </p:sp>
      <p:sp>
        <p:nvSpPr>
          <p:cNvPr id="55" name="Rectangle 54"/>
          <p:cNvSpPr/>
          <p:nvPr/>
        </p:nvSpPr>
        <p:spPr>
          <a:xfrm>
            <a:off x="7397496" y="3986784"/>
            <a:ext cx="2011680" cy="713232"/>
          </a:xfrm>
          <a:prstGeom prst="rect">
            <a:avLst/>
          </a:prstGeom>
          <a:solidFill>
            <a:srgbClr val="081022"/>
          </a:solidFill>
          <a:ln w="762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470648" y="4096512"/>
            <a:ext cx="1874519" cy="530352"/>
          </a:xfrm>
          <a:prstGeom prst="rect">
            <a:avLst/>
          </a:prstGeom>
          <a:noFill/>
        </p:spPr>
        <p:txBody>
          <a:bodyPr wrap="square">
            <a:spAutoFit/>
          </a:bodyPr>
          <a:lstStyle/>
          <a:p>
            <a:pPr algn="l"/>
            <a:r>
              <a:rPr sz="1000" b="0">
                <a:solidFill>
                  <a:srgbClr val="B0BAD4"/>
                </a:solidFill>
              </a:rPr>
              <a:t>Add parent portal module</a:t>
            </a:r>
          </a:p>
        </p:txBody>
      </p:sp>
      <p:sp>
        <p:nvSpPr>
          <p:cNvPr id="57" name="Rectangle 56"/>
          <p:cNvSpPr/>
          <p:nvPr/>
        </p:nvSpPr>
        <p:spPr>
          <a:xfrm>
            <a:off x="7397496" y="4809744"/>
            <a:ext cx="2011680" cy="713232"/>
          </a:xfrm>
          <a:prstGeom prst="rect">
            <a:avLst/>
          </a:prstGeom>
          <a:solidFill>
            <a:srgbClr val="081022"/>
          </a:solidFill>
          <a:ln w="762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470648" y="4919472"/>
            <a:ext cx="1874519" cy="530352"/>
          </a:xfrm>
          <a:prstGeom prst="rect">
            <a:avLst/>
          </a:prstGeom>
          <a:noFill/>
        </p:spPr>
        <p:txBody>
          <a:bodyPr wrap="square">
            <a:spAutoFit/>
          </a:bodyPr>
          <a:lstStyle/>
          <a:p>
            <a:pPr algn="l"/>
            <a:r>
              <a:rPr sz="1000" b="0">
                <a:solidFill>
                  <a:srgbClr val="B0BAD4"/>
                </a:solidFill>
              </a:rPr>
              <a:t>Polish all UI animations</a:t>
            </a:r>
          </a:p>
        </p:txBody>
      </p:sp>
      <p:sp>
        <p:nvSpPr>
          <p:cNvPr id="59" name="Rectangle 58"/>
          <p:cNvSpPr/>
          <p:nvPr/>
        </p:nvSpPr>
        <p:spPr>
          <a:xfrm>
            <a:off x="7397496" y="5632704"/>
            <a:ext cx="2011680" cy="713232"/>
          </a:xfrm>
          <a:prstGeom prst="rect">
            <a:avLst/>
          </a:prstGeom>
          <a:solidFill>
            <a:srgbClr val="081022"/>
          </a:solidFill>
          <a:ln w="762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470648" y="5742432"/>
            <a:ext cx="1874519" cy="530352"/>
          </a:xfrm>
          <a:prstGeom prst="rect">
            <a:avLst/>
          </a:prstGeom>
          <a:noFill/>
        </p:spPr>
        <p:txBody>
          <a:bodyPr wrap="square">
            <a:spAutoFit/>
          </a:bodyPr>
          <a:lstStyle/>
          <a:p>
            <a:pPr algn="l"/>
            <a:r>
              <a:rPr sz="1000" b="0">
                <a:solidFill>
                  <a:srgbClr val="B0BAD4"/>
                </a:solidFill>
              </a:rPr>
              <a:t>Fix bugs &amp; optimize performance</a:t>
            </a:r>
          </a:p>
        </p:txBody>
      </p:sp>
      <p:sp>
        <p:nvSpPr>
          <p:cNvPr id="61" name="Rectangle 60"/>
          <p:cNvSpPr/>
          <p:nvPr/>
        </p:nvSpPr>
        <p:spPr>
          <a:xfrm>
            <a:off x="9610344" y="1371600"/>
            <a:ext cx="2194560" cy="5230368"/>
          </a:xfrm>
          <a:prstGeom prst="rect">
            <a:avLst/>
          </a:prstGeom>
          <a:solidFill>
            <a:srgbClr val="0C1426"/>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9610344" y="1371600"/>
            <a:ext cx="2194560" cy="841248"/>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701784" y="1408176"/>
            <a:ext cx="2029968" cy="786384"/>
          </a:xfrm>
          <a:prstGeom prst="rect">
            <a:avLst/>
          </a:prstGeom>
          <a:noFill/>
        </p:spPr>
        <p:txBody>
          <a:bodyPr wrap="square">
            <a:spAutoFit/>
          </a:bodyPr>
          <a:lstStyle/>
          <a:p>
            <a:pPr algn="ctr"/>
            <a:r>
              <a:rPr sz="1200" b="1">
                <a:solidFill>
                  <a:srgbClr val="FFFFFF"/>
                </a:solidFill>
              </a:rPr>
              <a:t>Hour 7.5-8
Demo Prep</a:t>
            </a:r>
          </a:p>
        </p:txBody>
      </p:sp>
      <p:sp>
        <p:nvSpPr>
          <p:cNvPr id="64" name="Rectangle 63"/>
          <p:cNvSpPr/>
          <p:nvPr/>
        </p:nvSpPr>
        <p:spPr>
          <a:xfrm>
            <a:off x="9720072" y="2340864"/>
            <a:ext cx="2011680" cy="713232"/>
          </a:xfrm>
          <a:prstGeom prst="rect">
            <a:avLst/>
          </a:prstGeom>
          <a:solidFill>
            <a:srgbClr val="081022"/>
          </a:solidFill>
          <a:ln w="762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793224" y="2450592"/>
            <a:ext cx="1874519" cy="530352"/>
          </a:xfrm>
          <a:prstGeom prst="rect">
            <a:avLst/>
          </a:prstGeom>
          <a:noFill/>
        </p:spPr>
        <p:txBody>
          <a:bodyPr wrap="square">
            <a:spAutoFit/>
          </a:bodyPr>
          <a:lstStyle/>
          <a:p>
            <a:pPr algn="l"/>
            <a:r>
              <a:rPr sz="1000" b="0">
                <a:solidFill>
                  <a:srgbClr val="B0BAD4"/>
                </a:solidFill>
              </a:rPr>
              <a:t>Final testing across all roles</a:t>
            </a:r>
          </a:p>
        </p:txBody>
      </p:sp>
      <p:sp>
        <p:nvSpPr>
          <p:cNvPr id="66" name="Rectangle 65"/>
          <p:cNvSpPr/>
          <p:nvPr/>
        </p:nvSpPr>
        <p:spPr>
          <a:xfrm>
            <a:off x="9720072" y="3163824"/>
            <a:ext cx="2011680" cy="713232"/>
          </a:xfrm>
          <a:prstGeom prst="rect">
            <a:avLst/>
          </a:prstGeom>
          <a:solidFill>
            <a:srgbClr val="081022"/>
          </a:solidFill>
          <a:ln w="762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9793224" y="3273552"/>
            <a:ext cx="1874519" cy="530352"/>
          </a:xfrm>
          <a:prstGeom prst="rect">
            <a:avLst/>
          </a:prstGeom>
          <a:noFill/>
        </p:spPr>
        <p:txBody>
          <a:bodyPr wrap="square">
            <a:spAutoFit/>
          </a:bodyPr>
          <a:lstStyle/>
          <a:p>
            <a:pPr algn="l"/>
            <a:r>
              <a:rPr sz="1000" b="0">
                <a:solidFill>
                  <a:srgbClr val="B0BAD4"/>
                </a:solidFill>
              </a:rPr>
              <a:t>Prepare demo scenario scripts</a:t>
            </a:r>
          </a:p>
        </p:txBody>
      </p:sp>
      <p:sp>
        <p:nvSpPr>
          <p:cNvPr id="68" name="Rectangle 67"/>
          <p:cNvSpPr/>
          <p:nvPr/>
        </p:nvSpPr>
        <p:spPr>
          <a:xfrm>
            <a:off x="9720072" y="3986784"/>
            <a:ext cx="2011680" cy="713232"/>
          </a:xfrm>
          <a:prstGeom prst="rect">
            <a:avLst/>
          </a:prstGeom>
          <a:solidFill>
            <a:srgbClr val="081022"/>
          </a:solidFill>
          <a:ln w="762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9793224" y="4096512"/>
            <a:ext cx="1874519" cy="530352"/>
          </a:xfrm>
          <a:prstGeom prst="rect">
            <a:avLst/>
          </a:prstGeom>
          <a:noFill/>
        </p:spPr>
        <p:txBody>
          <a:bodyPr wrap="square">
            <a:spAutoFit/>
          </a:bodyPr>
          <a:lstStyle/>
          <a:p>
            <a:pPr algn="l"/>
            <a:r>
              <a:rPr sz="1000" b="0">
                <a:solidFill>
                  <a:srgbClr val="B0BAD4"/>
                </a:solidFill>
              </a:rPr>
              <a:t>Document API integrations</a:t>
            </a:r>
          </a:p>
        </p:txBody>
      </p:sp>
      <p:sp>
        <p:nvSpPr>
          <p:cNvPr id="70" name="Rectangle 69"/>
          <p:cNvSpPr/>
          <p:nvPr/>
        </p:nvSpPr>
        <p:spPr>
          <a:xfrm>
            <a:off x="9720072" y="4809744"/>
            <a:ext cx="2011680" cy="713232"/>
          </a:xfrm>
          <a:prstGeom prst="rect">
            <a:avLst/>
          </a:prstGeom>
          <a:solidFill>
            <a:srgbClr val="081022"/>
          </a:solidFill>
          <a:ln w="762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9793224" y="4919472"/>
            <a:ext cx="1874519" cy="530352"/>
          </a:xfrm>
          <a:prstGeom prst="rect">
            <a:avLst/>
          </a:prstGeom>
          <a:noFill/>
        </p:spPr>
        <p:txBody>
          <a:bodyPr wrap="square">
            <a:spAutoFit/>
          </a:bodyPr>
          <a:lstStyle/>
          <a:p>
            <a:pPr algn="l"/>
            <a:r>
              <a:rPr sz="1000" b="0">
                <a:solidFill>
                  <a:srgbClr val="B0BAD4"/>
                </a:solidFill>
              </a:rPr>
              <a:t>Rehearse 5-minute pitch</a:t>
            </a:r>
          </a:p>
        </p:txBody>
      </p:sp>
      <p:sp>
        <p:nvSpPr>
          <p:cNvPr id="72" name="Rectangle 71"/>
          <p:cNvSpPr/>
          <p:nvPr/>
        </p:nvSpPr>
        <p:spPr>
          <a:xfrm>
            <a:off x="9720072" y="5632704"/>
            <a:ext cx="2011680" cy="713232"/>
          </a:xfrm>
          <a:prstGeom prst="rect">
            <a:avLst/>
          </a:prstGeom>
          <a:solidFill>
            <a:srgbClr val="081022"/>
          </a:solidFill>
          <a:ln w="762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793224" y="5742432"/>
            <a:ext cx="1874519" cy="530352"/>
          </a:xfrm>
          <a:prstGeom prst="rect">
            <a:avLst/>
          </a:prstGeom>
          <a:noFill/>
        </p:spPr>
        <p:txBody>
          <a:bodyPr wrap="square">
            <a:spAutoFit/>
          </a:bodyPr>
          <a:lstStyle/>
          <a:p>
            <a:pPr algn="l"/>
            <a:r>
              <a:rPr sz="1000" b="0">
                <a:solidFill>
                  <a:srgbClr val="B0BAD4"/>
                </a:solidFill>
              </a:rPr>
              <a:t>Submit &amp; present to judges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98448"/>
          </a:xfrm>
          <a:prstGeom prst="rect">
            <a:avLst/>
          </a:prstGeom>
          <a:solidFill>
            <a:srgbClr val="0D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094476" cy="64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4476" y="0"/>
            <a:ext cx="6094476"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09728"/>
            <a:ext cx="11430000" cy="685800"/>
          </a:xfrm>
          <a:prstGeom prst="rect">
            <a:avLst/>
          </a:prstGeom>
          <a:noFill/>
        </p:spPr>
        <p:txBody>
          <a:bodyPr wrap="square">
            <a:spAutoFit/>
          </a:bodyPr>
          <a:lstStyle/>
          <a:p>
            <a:pPr algn="l"/>
            <a:r>
              <a:rPr sz="2900" b="1">
                <a:solidFill>
                  <a:srgbClr val="FFFFFF"/>
                </a:solidFill>
              </a:rPr>
              <a:t>User Roles &amp; Platform Flow</a:t>
            </a:r>
          </a:p>
        </p:txBody>
      </p:sp>
      <p:sp>
        <p:nvSpPr>
          <p:cNvPr id="6" name="TextBox 5"/>
          <p:cNvSpPr txBox="1"/>
          <p:nvPr/>
        </p:nvSpPr>
        <p:spPr>
          <a:xfrm>
            <a:off x="365760" y="768096"/>
            <a:ext cx="11430000" cy="420624"/>
          </a:xfrm>
          <a:prstGeom prst="rect">
            <a:avLst/>
          </a:prstGeom>
          <a:noFill/>
        </p:spPr>
        <p:txBody>
          <a:bodyPr wrap="square">
            <a:spAutoFit/>
          </a:bodyPr>
          <a:lstStyle/>
          <a:p>
            <a:pPr algn="l"/>
            <a:r>
              <a:rPr sz="1250" b="0">
                <a:solidFill>
                  <a:srgbClr val="B0BAD4"/>
                </a:solidFill>
              </a:rPr>
              <a:t>Five distinct user experiences — all connected through a single intelligent backend</a:t>
            </a:r>
          </a:p>
        </p:txBody>
      </p:sp>
      <p:sp>
        <p:nvSpPr>
          <p:cNvPr id="7" name="Rectangle 6"/>
          <p:cNvSpPr/>
          <p:nvPr/>
        </p:nvSpPr>
        <p:spPr>
          <a:xfrm>
            <a:off x="365760" y="1225296"/>
            <a:ext cx="2514600" cy="457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880360" y="1225296"/>
            <a:ext cx="2514600"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371600"/>
            <a:ext cx="2816352" cy="5230368"/>
          </a:xfrm>
          <a:prstGeom prst="rect">
            <a:avLst/>
          </a:prstGeom>
          <a:solidFill>
            <a:srgbClr val="0C1426"/>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5760" y="1371600"/>
            <a:ext cx="2816352" cy="47548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5488" y="1435608"/>
            <a:ext cx="2615184" cy="347472"/>
          </a:xfrm>
          <a:prstGeom prst="rect">
            <a:avLst/>
          </a:prstGeom>
          <a:noFill/>
        </p:spPr>
        <p:txBody>
          <a:bodyPr wrap="square">
            <a:spAutoFit/>
          </a:bodyPr>
          <a:lstStyle/>
          <a:p>
            <a:pPr algn="ctr"/>
            <a:r>
              <a:rPr sz="1400" b="1">
                <a:solidFill>
                  <a:srgbClr val="FFFFFF"/>
                </a:solidFill>
              </a:rPr>
              <a:t>Student Role</a:t>
            </a:r>
          </a:p>
        </p:txBody>
      </p:sp>
      <p:sp>
        <p:nvSpPr>
          <p:cNvPr id="12" name="Rectangle 11"/>
          <p:cNvSpPr/>
          <p:nvPr/>
        </p:nvSpPr>
        <p:spPr>
          <a:xfrm>
            <a:off x="493776" y="1956816"/>
            <a:ext cx="2578608" cy="768096"/>
          </a:xfrm>
          <a:prstGeom prst="rect">
            <a:avLst/>
          </a:prstGeom>
          <a:solidFill>
            <a:srgbClr val="081022"/>
          </a:solidFill>
          <a:ln w="762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2084832"/>
            <a:ext cx="2432304" cy="566928"/>
          </a:xfrm>
          <a:prstGeom prst="rect">
            <a:avLst/>
          </a:prstGeom>
          <a:noFill/>
        </p:spPr>
        <p:txBody>
          <a:bodyPr wrap="square">
            <a:spAutoFit/>
          </a:bodyPr>
          <a:lstStyle/>
          <a:p>
            <a:pPr algn="l"/>
            <a:r>
              <a:rPr sz="1000" b="0">
                <a:solidFill>
                  <a:srgbClr val="B0BAD4"/>
                </a:solidFill>
              </a:rPr>
              <a:t>View personalized timetable, attendance &amp; grades</a:t>
            </a:r>
          </a:p>
        </p:txBody>
      </p:sp>
      <p:sp>
        <p:nvSpPr>
          <p:cNvPr id="14" name="Rectangle 13"/>
          <p:cNvSpPr/>
          <p:nvPr/>
        </p:nvSpPr>
        <p:spPr>
          <a:xfrm>
            <a:off x="493776" y="2871216"/>
            <a:ext cx="2578608" cy="768096"/>
          </a:xfrm>
          <a:prstGeom prst="rect">
            <a:avLst/>
          </a:prstGeom>
          <a:solidFill>
            <a:srgbClr val="081022"/>
          </a:solidFill>
          <a:ln w="762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2999232"/>
            <a:ext cx="2432304" cy="566928"/>
          </a:xfrm>
          <a:prstGeom prst="rect">
            <a:avLst/>
          </a:prstGeom>
          <a:noFill/>
        </p:spPr>
        <p:txBody>
          <a:bodyPr wrap="square">
            <a:spAutoFit/>
          </a:bodyPr>
          <a:lstStyle/>
          <a:p>
            <a:pPr algn="l"/>
            <a:r>
              <a:rPr sz="1000" b="0">
                <a:solidFill>
                  <a:srgbClr val="B0BAD4"/>
                </a:solidFill>
              </a:rPr>
              <a:t>Chat with AI assistant for instant academic answers</a:t>
            </a:r>
          </a:p>
        </p:txBody>
      </p:sp>
      <p:sp>
        <p:nvSpPr>
          <p:cNvPr id="16" name="Rectangle 15"/>
          <p:cNvSpPr/>
          <p:nvPr/>
        </p:nvSpPr>
        <p:spPr>
          <a:xfrm>
            <a:off x="493776" y="3785616"/>
            <a:ext cx="2578608" cy="768096"/>
          </a:xfrm>
          <a:prstGeom prst="rect">
            <a:avLst/>
          </a:prstGeom>
          <a:solidFill>
            <a:srgbClr val="081022"/>
          </a:solidFill>
          <a:ln w="762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3913632"/>
            <a:ext cx="2432304" cy="566928"/>
          </a:xfrm>
          <a:prstGeom prst="rect">
            <a:avLst/>
          </a:prstGeom>
          <a:noFill/>
        </p:spPr>
        <p:txBody>
          <a:bodyPr wrap="square">
            <a:spAutoFit/>
          </a:bodyPr>
          <a:lstStyle/>
          <a:p>
            <a:pPr algn="l"/>
            <a:r>
              <a:rPr sz="1000" b="0">
                <a:solidFill>
                  <a:srgbClr val="B0BAD4"/>
                </a:solidFill>
              </a:rPr>
              <a:t>Pay fees via Razorpay &amp; download hall tickets</a:t>
            </a:r>
          </a:p>
        </p:txBody>
      </p:sp>
      <p:sp>
        <p:nvSpPr>
          <p:cNvPr id="18" name="Rectangle 17"/>
          <p:cNvSpPr/>
          <p:nvPr/>
        </p:nvSpPr>
        <p:spPr>
          <a:xfrm>
            <a:off x="493776" y="4700016"/>
            <a:ext cx="2578608" cy="768096"/>
          </a:xfrm>
          <a:prstGeom prst="rect">
            <a:avLst/>
          </a:prstGeom>
          <a:solidFill>
            <a:srgbClr val="081022"/>
          </a:solidFill>
          <a:ln w="762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6928" y="4828032"/>
            <a:ext cx="2432304" cy="566928"/>
          </a:xfrm>
          <a:prstGeom prst="rect">
            <a:avLst/>
          </a:prstGeom>
          <a:noFill/>
        </p:spPr>
        <p:txBody>
          <a:bodyPr wrap="square">
            <a:spAutoFit/>
          </a:bodyPr>
          <a:lstStyle/>
          <a:p>
            <a:pPr algn="l"/>
            <a:r>
              <a:rPr sz="1000" b="0">
                <a:solidFill>
                  <a:srgbClr val="B0BAD4"/>
                </a:solidFill>
              </a:rPr>
              <a:t>Apply for leave &amp; track approval status</a:t>
            </a:r>
          </a:p>
        </p:txBody>
      </p:sp>
      <p:sp>
        <p:nvSpPr>
          <p:cNvPr id="20" name="Rectangle 19"/>
          <p:cNvSpPr/>
          <p:nvPr/>
        </p:nvSpPr>
        <p:spPr>
          <a:xfrm>
            <a:off x="493776" y="5614416"/>
            <a:ext cx="2578608" cy="768096"/>
          </a:xfrm>
          <a:prstGeom prst="rect">
            <a:avLst/>
          </a:prstGeom>
          <a:solidFill>
            <a:srgbClr val="081022"/>
          </a:solidFill>
          <a:ln w="762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5742432"/>
            <a:ext cx="2432304" cy="566928"/>
          </a:xfrm>
          <a:prstGeom prst="rect">
            <a:avLst/>
          </a:prstGeom>
          <a:noFill/>
        </p:spPr>
        <p:txBody>
          <a:bodyPr wrap="square">
            <a:spAutoFit/>
          </a:bodyPr>
          <a:lstStyle/>
          <a:p>
            <a:pPr algn="l"/>
            <a:r>
              <a:rPr sz="1000" b="0">
                <a:solidFill>
                  <a:srgbClr val="B0BAD4"/>
                </a:solidFill>
              </a:rPr>
              <a:t>Read urgency-tagged notices &amp; join community forums</a:t>
            </a:r>
          </a:p>
        </p:txBody>
      </p:sp>
      <p:sp>
        <p:nvSpPr>
          <p:cNvPr id="22" name="Rectangle 21"/>
          <p:cNvSpPr/>
          <p:nvPr/>
        </p:nvSpPr>
        <p:spPr>
          <a:xfrm>
            <a:off x="3319272" y="1371600"/>
            <a:ext cx="2816352" cy="5230368"/>
          </a:xfrm>
          <a:prstGeom prst="rect">
            <a:avLst/>
          </a:prstGeom>
          <a:solidFill>
            <a:srgbClr val="0C142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319272" y="1371600"/>
            <a:ext cx="2816352" cy="47548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429000" y="1435608"/>
            <a:ext cx="2615184" cy="347472"/>
          </a:xfrm>
          <a:prstGeom prst="rect">
            <a:avLst/>
          </a:prstGeom>
          <a:noFill/>
        </p:spPr>
        <p:txBody>
          <a:bodyPr wrap="square">
            <a:spAutoFit/>
          </a:bodyPr>
          <a:lstStyle/>
          <a:p>
            <a:pPr algn="ctr"/>
            <a:r>
              <a:rPr sz="1400" b="1">
                <a:solidFill>
                  <a:srgbClr val="FFFFFF"/>
                </a:solidFill>
              </a:rPr>
              <a:t>Faculty Role</a:t>
            </a:r>
          </a:p>
        </p:txBody>
      </p:sp>
      <p:sp>
        <p:nvSpPr>
          <p:cNvPr id="25" name="Rectangle 24"/>
          <p:cNvSpPr/>
          <p:nvPr/>
        </p:nvSpPr>
        <p:spPr>
          <a:xfrm>
            <a:off x="3447288" y="1956816"/>
            <a:ext cx="2578608" cy="768096"/>
          </a:xfrm>
          <a:prstGeom prst="rect">
            <a:avLst/>
          </a:prstGeom>
          <a:solidFill>
            <a:srgbClr val="081022"/>
          </a:solidFill>
          <a:ln w="762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520440" y="2084832"/>
            <a:ext cx="2432304" cy="566928"/>
          </a:xfrm>
          <a:prstGeom prst="rect">
            <a:avLst/>
          </a:prstGeom>
          <a:noFill/>
        </p:spPr>
        <p:txBody>
          <a:bodyPr wrap="square">
            <a:spAutoFit/>
          </a:bodyPr>
          <a:lstStyle/>
          <a:p>
            <a:pPr algn="l"/>
            <a:r>
              <a:rPr sz="1000" b="0">
                <a:solidFill>
                  <a:srgbClr val="B0BAD4"/>
                </a:solidFill>
              </a:rPr>
              <a:t>Mark &amp; monitor class-wise attendance</a:t>
            </a:r>
          </a:p>
        </p:txBody>
      </p:sp>
      <p:sp>
        <p:nvSpPr>
          <p:cNvPr id="27" name="Rectangle 26"/>
          <p:cNvSpPr/>
          <p:nvPr/>
        </p:nvSpPr>
        <p:spPr>
          <a:xfrm>
            <a:off x="3447288" y="2871216"/>
            <a:ext cx="2578608" cy="768096"/>
          </a:xfrm>
          <a:prstGeom prst="rect">
            <a:avLst/>
          </a:prstGeom>
          <a:solidFill>
            <a:srgbClr val="081022"/>
          </a:solidFill>
          <a:ln w="762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520440" y="2999232"/>
            <a:ext cx="2432304" cy="566928"/>
          </a:xfrm>
          <a:prstGeom prst="rect">
            <a:avLst/>
          </a:prstGeom>
          <a:noFill/>
        </p:spPr>
        <p:txBody>
          <a:bodyPr wrap="square">
            <a:spAutoFit/>
          </a:bodyPr>
          <a:lstStyle/>
          <a:p>
            <a:pPr algn="l"/>
            <a:r>
              <a:rPr sz="1000" b="0">
                <a:solidFill>
                  <a:srgbClr val="B0BAD4"/>
                </a:solidFill>
              </a:rPr>
              <a:t>Review and approve/reject student leave requests</a:t>
            </a:r>
          </a:p>
        </p:txBody>
      </p:sp>
      <p:sp>
        <p:nvSpPr>
          <p:cNvPr id="29" name="Rectangle 28"/>
          <p:cNvSpPr/>
          <p:nvPr/>
        </p:nvSpPr>
        <p:spPr>
          <a:xfrm>
            <a:off x="3447288" y="3785616"/>
            <a:ext cx="2578608" cy="768096"/>
          </a:xfrm>
          <a:prstGeom prst="rect">
            <a:avLst/>
          </a:prstGeom>
          <a:solidFill>
            <a:srgbClr val="081022"/>
          </a:solidFill>
          <a:ln w="762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520440" y="3913632"/>
            <a:ext cx="2432304" cy="566928"/>
          </a:xfrm>
          <a:prstGeom prst="rect">
            <a:avLst/>
          </a:prstGeom>
          <a:noFill/>
        </p:spPr>
        <p:txBody>
          <a:bodyPr wrap="square">
            <a:spAutoFit/>
          </a:bodyPr>
          <a:lstStyle/>
          <a:p>
            <a:pPr algn="l"/>
            <a:r>
              <a:rPr sz="1000" b="0">
                <a:solidFill>
                  <a:srgbClr val="B0BAD4"/>
                </a:solidFill>
              </a:rPr>
              <a:t>View class performance analytics &amp; grade trends</a:t>
            </a:r>
          </a:p>
        </p:txBody>
      </p:sp>
      <p:sp>
        <p:nvSpPr>
          <p:cNvPr id="31" name="Rectangle 30"/>
          <p:cNvSpPr/>
          <p:nvPr/>
        </p:nvSpPr>
        <p:spPr>
          <a:xfrm>
            <a:off x="3447288" y="4700016"/>
            <a:ext cx="2578608" cy="768096"/>
          </a:xfrm>
          <a:prstGeom prst="rect">
            <a:avLst/>
          </a:prstGeom>
          <a:solidFill>
            <a:srgbClr val="081022"/>
          </a:solidFill>
          <a:ln w="762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520440" y="4828032"/>
            <a:ext cx="2432304" cy="566928"/>
          </a:xfrm>
          <a:prstGeom prst="rect">
            <a:avLst/>
          </a:prstGeom>
          <a:noFill/>
        </p:spPr>
        <p:txBody>
          <a:bodyPr wrap="square">
            <a:spAutoFit/>
          </a:bodyPr>
          <a:lstStyle/>
          <a:p>
            <a:pPr algn="l"/>
            <a:r>
              <a:rPr sz="1000" b="0">
                <a:solidFill>
                  <a:srgbClr val="B0BAD4"/>
                </a:solidFill>
              </a:rPr>
              <a:t>Post announcements to the digital notice board</a:t>
            </a:r>
          </a:p>
        </p:txBody>
      </p:sp>
      <p:sp>
        <p:nvSpPr>
          <p:cNvPr id="33" name="Rectangle 32"/>
          <p:cNvSpPr/>
          <p:nvPr/>
        </p:nvSpPr>
        <p:spPr>
          <a:xfrm>
            <a:off x="3447288" y="5614416"/>
            <a:ext cx="2578608" cy="768096"/>
          </a:xfrm>
          <a:prstGeom prst="rect">
            <a:avLst/>
          </a:prstGeom>
          <a:solidFill>
            <a:srgbClr val="081022"/>
          </a:solidFill>
          <a:ln w="762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520440" y="5742432"/>
            <a:ext cx="2432304" cy="566928"/>
          </a:xfrm>
          <a:prstGeom prst="rect">
            <a:avLst/>
          </a:prstGeom>
          <a:noFill/>
        </p:spPr>
        <p:txBody>
          <a:bodyPr wrap="square">
            <a:spAutoFit/>
          </a:bodyPr>
          <a:lstStyle/>
          <a:p>
            <a:pPr algn="l"/>
            <a:r>
              <a:rPr sz="1000" b="0">
                <a:solidFill>
                  <a:srgbClr val="B0BAD4"/>
                </a:solidFill>
              </a:rPr>
              <a:t>Moderate department discussion channels</a:t>
            </a:r>
          </a:p>
        </p:txBody>
      </p:sp>
      <p:sp>
        <p:nvSpPr>
          <p:cNvPr id="35" name="Rectangle 34"/>
          <p:cNvSpPr/>
          <p:nvPr/>
        </p:nvSpPr>
        <p:spPr>
          <a:xfrm>
            <a:off x="6272784" y="1371600"/>
            <a:ext cx="2816352" cy="5230368"/>
          </a:xfrm>
          <a:prstGeom prst="rect">
            <a:avLst/>
          </a:prstGeom>
          <a:solidFill>
            <a:srgbClr val="0C1426"/>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272784" y="1371600"/>
            <a:ext cx="2816352" cy="475488"/>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82512" y="1435608"/>
            <a:ext cx="2615184" cy="347472"/>
          </a:xfrm>
          <a:prstGeom prst="rect">
            <a:avLst/>
          </a:prstGeom>
          <a:noFill/>
        </p:spPr>
        <p:txBody>
          <a:bodyPr wrap="square">
            <a:spAutoFit/>
          </a:bodyPr>
          <a:lstStyle/>
          <a:p>
            <a:pPr algn="ctr"/>
            <a:r>
              <a:rPr sz="1400" b="1">
                <a:solidFill>
                  <a:srgbClr val="FFFFFF"/>
                </a:solidFill>
              </a:rPr>
              <a:t>Admin Role</a:t>
            </a:r>
          </a:p>
        </p:txBody>
      </p:sp>
      <p:sp>
        <p:nvSpPr>
          <p:cNvPr id="38" name="Rectangle 37"/>
          <p:cNvSpPr/>
          <p:nvPr/>
        </p:nvSpPr>
        <p:spPr>
          <a:xfrm>
            <a:off x="6400800" y="1956816"/>
            <a:ext cx="2578608" cy="768096"/>
          </a:xfrm>
          <a:prstGeom prst="rect">
            <a:avLst/>
          </a:prstGeom>
          <a:solidFill>
            <a:srgbClr val="081022"/>
          </a:solidFill>
          <a:ln w="762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73952" y="2084832"/>
            <a:ext cx="2432304" cy="566928"/>
          </a:xfrm>
          <a:prstGeom prst="rect">
            <a:avLst/>
          </a:prstGeom>
          <a:noFill/>
        </p:spPr>
        <p:txBody>
          <a:bodyPr wrap="square">
            <a:spAutoFit/>
          </a:bodyPr>
          <a:lstStyle/>
          <a:p>
            <a:pPr algn="l"/>
            <a:r>
              <a:rPr sz="1000" b="0">
                <a:solidFill>
                  <a:srgbClr val="B0BAD4"/>
                </a:solidFill>
              </a:rPr>
              <a:t>Manage institution data, batches &amp; courses</a:t>
            </a:r>
          </a:p>
        </p:txBody>
      </p:sp>
      <p:sp>
        <p:nvSpPr>
          <p:cNvPr id="40" name="Rectangle 39"/>
          <p:cNvSpPr/>
          <p:nvPr/>
        </p:nvSpPr>
        <p:spPr>
          <a:xfrm>
            <a:off x="6400800" y="2871216"/>
            <a:ext cx="2578608" cy="768096"/>
          </a:xfrm>
          <a:prstGeom prst="rect">
            <a:avLst/>
          </a:prstGeom>
          <a:solidFill>
            <a:srgbClr val="081022"/>
          </a:solidFill>
          <a:ln w="762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73952" y="2999232"/>
            <a:ext cx="2432304" cy="566928"/>
          </a:xfrm>
          <a:prstGeom prst="rect">
            <a:avLst/>
          </a:prstGeom>
          <a:noFill/>
        </p:spPr>
        <p:txBody>
          <a:bodyPr wrap="square">
            <a:spAutoFit/>
          </a:bodyPr>
          <a:lstStyle/>
          <a:p>
            <a:pPr algn="l"/>
            <a:r>
              <a:rPr sz="1000" b="0">
                <a:solidFill>
                  <a:srgbClr val="B0BAD4"/>
                </a:solidFill>
              </a:rPr>
              <a:t>Track fee defaulters with batch-wise breakdown</a:t>
            </a:r>
          </a:p>
        </p:txBody>
      </p:sp>
      <p:sp>
        <p:nvSpPr>
          <p:cNvPr id="42" name="Rectangle 41"/>
          <p:cNvSpPr/>
          <p:nvPr/>
        </p:nvSpPr>
        <p:spPr>
          <a:xfrm>
            <a:off x="6400800" y="3785616"/>
            <a:ext cx="2578608" cy="768096"/>
          </a:xfrm>
          <a:prstGeom prst="rect">
            <a:avLst/>
          </a:prstGeom>
          <a:solidFill>
            <a:srgbClr val="081022"/>
          </a:solidFill>
          <a:ln w="762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73952" y="3913632"/>
            <a:ext cx="2432304" cy="566928"/>
          </a:xfrm>
          <a:prstGeom prst="rect">
            <a:avLst/>
          </a:prstGeom>
          <a:noFill/>
        </p:spPr>
        <p:txBody>
          <a:bodyPr wrap="square">
            <a:spAutoFit/>
          </a:bodyPr>
          <a:lstStyle/>
          <a:p>
            <a:pPr algn="l"/>
            <a:r>
              <a:rPr sz="1000" b="0">
                <a:solidFill>
                  <a:srgbClr val="B0BAD4"/>
                </a:solidFill>
              </a:rPr>
              <a:t>Generate and export fee collection reports</a:t>
            </a:r>
          </a:p>
        </p:txBody>
      </p:sp>
      <p:sp>
        <p:nvSpPr>
          <p:cNvPr id="44" name="Rectangle 43"/>
          <p:cNvSpPr/>
          <p:nvPr/>
        </p:nvSpPr>
        <p:spPr>
          <a:xfrm>
            <a:off x="6400800" y="4700016"/>
            <a:ext cx="2578608" cy="768096"/>
          </a:xfrm>
          <a:prstGeom prst="rect">
            <a:avLst/>
          </a:prstGeom>
          <a:solidFill>
            <a:srgbClr val="081022"/>
          </a:solidFill>
          <a:ln w="762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73952" y="4828032"/>
            <a:ext cx="2432304" cy="566928"/>
          </a:xfrm>
          <a:prstGeom prst="rect">
            <a:avLst/>
          </a:prstGeom>
          <a:noFill/>
        </p:spPr>
        <p:txBody>
          <a:bodyPr wrap="square">
            <a:spAutoFit/>
          </a:bodyPr>
          <a:lstStyle/>
          <a:p>
            <a:pPr algn="l"/>
            <a:r>
              <a:rPr sz="1000" b="0">
                <a:solidFill>
                  <a:srgbClr val="B0BAD4"/>
                </a:solidFill>
              </a:rPr>
              <a:t>Send broadcast notices to all students/faculty</a:t>
            </a:r>
          </a:p>
        </p:txBody>
      </p:sp>
      <p:sp>
        <p:nvSpPr>
          <p:cNvPr id="46" name="Rectangle 45"/>
          <p:cNvSpPr/>
          <p:nvPr/>
        </p:nvSpPr>
        <p:spPr>
          <a:xfrm>
            <a:off x="6400800" y="5614416"/>
            <a:ext cx="2578608" cy="768096"/>
          </a:xfrm>
          <a:prstGeom prst="rect">
            <a:avLst/>
          </a:prstGeom>
          <a:solidFill>
            <a:srgbClr val="081022"/>
          </a:solidFill>
          <a:ln w="762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473952" y="5742432"/>
            <a:ext cx="2432304" cy="566928"/>
          </a:xfrm>
          <a:prstGeom prst="rect">
            <a:avLst/>
          </a:prstGeom>
          <a:noFill/>
        </p:spPr>
        <p:txBody>
          <a:bodyPr wrap="square">
            <a:spAutoFit/>
          </a:bodyPr>
          <a:lstStyle/>
          <a:p>
            <a:pPr algn="l"/>
            <a:r>
              <a:rPr sz="1000" b="0">
                <a:solidFill>
                  <a:srgbClr val="B0BAD4"/>
                </a:solidFill>
              </a:rPr>
              <a:t>Monitor platform-wide engagement analytics</a:t>
            </a:r>
          </a:p>
        </p:txBody>
      </p:sp>
      <p:sp>
        <p:nvSpPr>
          <p:cNvPr id="48" name="Rectangle 47"/>
          <p:cNvSpPr/>
          <p:nvPr/>
        </p:nvSpPr>
        <p:spPr>
          <a:xfrm>
            <a:off x="9226296" y="1371600"/>
            <a:ext cx="2816352" cy="5230368"/>
          </a:xfrm>
          <a:prstGeom prst="rect">
            <a:avLst/>
          </a:prstGeom>
          <a:solidFill>
            <a:srgbClr val="0C1426"/>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9226296" y="1371600"/>
            <a:ext cx="2816352" cy="47548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336024" y="1435608"/>
            <a:ext cx="2615184" cy="347472"/>
          </a:xfrm>
          <a:prstGeom prst="rect">
            <a:avLst/>
          </a:prstGeom>
          <a:noFill/>
        </p:spPr>
        <p:txBody>
          <a:bodyPr wrap="square">
            <a:spAutoFit/>
          </a:bodyPr>
          <a:lstStyle/>
          <a:p>
            <a:pPr algn="ctr"/>
            <a:r>
              <a:rPr sz="1400" b="1">
                <a:solidFill>
                  <a:srgbClr val="FFFFFF"/>
                </a:solidFill>
              </a:rPr>
              <a:t>Parent Role</a:t>
            </a:r>
          </a:p>
        </p:txBody>
      </p:sp>
      <p:sp>
        <p:nvSpPr>
          <p:cNvPr id="51" name="Rectangle 50"/>
          <p:cNvSpPr/>
          <p:nvPr/>
        </p:nvSpPr>
        <p:spPr>
          <a:xfrm>
            <a:off x="9354312" y="1956816"/>
            <a:ext cx="2578608" cy="768096"/>
          </a:xfrm>
          <a:prstGeom prst="rect">
            <a:avLst/>
          </a:prstGeom>
          <a:solidFill>
            <a:srgbClr val="081022"/>
          </a:solidFill>
          <a:ln w="762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427464" y="2084832"/>
            <a:ext cx="2432304" cy="566928"/>
          </a:xfrm>
          <a:prstGeom prst="rect">
            <a:avLst/>
          </a:prstGeom>
          <a:noFill/>
        </p:spPr>
        <p:txBody>
          <a:bodyPr wrap="square">
            <a:spAutoFit/>
          </a:bodyPr>
          <a:lstStyle/>
          <a:p>
            <a:pPr algn="l"/>
            <a:r>
              <a:rPr sz="1000" b="0">
                <a:solidFill>
                  <a:srgbClr val="B0BAD4"/>
                </a:solidFill>
              </a:rPr>
              <a:t>View ward's real-time attendance percentage</a:t>
            </a:r>
          </a:p>
        </p:txBody>
      </p:sp>
      <p:sp>
        <p:nvSpPr>
          <p:cNvPr id="53" name="Rectangle 52"/>
          <p:cNvSpPr/>
          <p:nvPr/>
        </p:nvSpPr>
        <p:spPr>
          <a:xfrm>
            <a:off x="9354312" y="2871216"/>
            <a:ext cx="2578608" cy="768096"/>
          </a:xfrm>
          <a:prstGeom prst="rect">
            <a:avLst/>
          </a:prstGeom>
          <a:solidFill>
            <a:srgbClr val="081022"/>
          </a:solidFill>
          <a:ln w="762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427464" y="2999232"/>
            <a:ext cx="2432304" cy="566928"/>
          </a:xfrm>
          <a:prstGeom prst="rect">
            <a:avLst/>
          </a:prstGeom>
          <a:noFill/>
        </p:spPr>
        <p:txBody>
          <a:bodyPr wrap="square">
            <a:spAutoFit/>
          </a:bodyPr>
          <a:lstStyle/>
          <a:p>
            <a:pPr algn="l"/>
            <a:r>
              <a:rPr sz="1000" b="0">
                <a:solidFill>
                  <a:srgbClr val="B0BAD4"/>
                </a:solidFill>
              </a:rPr>
              <a:t>Check outstanding fees &amp; pay via Razorpay gateway</a:t>
            </a:r>
          </a:p>
        </p:txBody>
      </p:sp>
      <p:sp>
        <p:nvSpPr>
          <p:cNvPr id="55" name="Rectangle 54"/>
          <p:cNvSpPr/>
          <p:nvPr/>
        </p:nvSpPr>
        <p:spPr>
          <a:xfrm>
            <a:off x="9354312" y="3785616"/>
            <a:ext cx="2578608" cy="768096"/>
          </a:xfrm>
          <a:prstGeom prst="rect">
            <a:avLst/>
          </a:prstGeom>
          <a:solidFill>
            <a:srgbClr val="081022"/>
          </a:solidFill>
          <a:ln w="762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427464" y="3913632"/>
            <a:ext cx="2432304" cy="566928"/>
          </a:xfrm>
          <a:prstGeom prst="rect">
            <a:avLst/>
          </a:prstGeom>
          <a:noFill/>
        </p:spPr>
        <p:txBody>
          <a:bodyPr wrap="square">
            <a:spAutoFit/>
          </a:bodyPr>
          <a:lstStyle/>
          <a:p>
            <a:pPr algn="l"/>
            <a:r>
              <a:rPr sz="1000" b="0">
                <a:solidFill>
                  <a:srgbClr val="B0BAD4"/>
                </a:solidFill>
              </a:rPr>
              <a:t>Receive alerts for poor attendance or overdue fees</a:t>
            </a:r>
          </a:p>
        </p:txBody>
      </p:sp>
      <p:sp>
        <p:nvSpPr>
          <p:cNvPr id="57" name="Rectangle 56"/>
          <p:cNvSpPr/>
          <p:nvPr/>
        </p:nvSpPr>
        <p:spPr>
          <a:xfrm>
            <a:off x="9354312" y="4700016"/>
            <a:ext cx="2578608" cy="768096"/>
          </a:xfrm>
          <a:prstGeom prst="rect">
            <a:avLst/>
          </a:prstGeom>
          <a:solidFill>
            <a:srgbClr val="081022"/>
          </a:solidFill>
          <a:ln w="762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427464" y="4828032"/>
            <a:ext cx="2432304" cy="566928"/>
          </a:xfrm>
          <a:prstGeom prst="rect">
            <a:avLst/>
          </a:prstGeom>
          <a:noFill/>
        </p:spPr>
        <p:txBody>
          <a:bodyPr wrap="square">
            <a:spAutoFit/>
          </a:bodyPr>
          <a:lstStyle/>
          <a:p>
            <a:pPr algn="l"/>
            <a:r>
              <a:rPr sz="1000" b="0">
                <a:solidFill>
                  <a:srgbClr val="B0BAD4"/>
                </a:solidFill>
              </a:rPr>
              <a:t>View exam timetable and result history</a:t>
            </a:r>
          </a:p>
        </p:txBody>
      </p:sp>
      <p:sp>
        <p:nvSpPr>
          <p:cNvPr id="59" name="Rectangle 58"/>
          <p:cNvSpPr/>
          <p:nvPr/>
        </p:nvSpPr>
        <p:spPr>
          <a:xfrm>
            <a:off x="9354312" y="5614416"/>
            <a:ext cx="2578608" cy="768096"/>
          </a:xfrm>
          <a:prstGeom prst="rect">
            <a:avLst/>
          </a:prstGeom>
          <a:solidFill>
            <a:srgbClr val="081022"/>
          </a:solidFill>
          <a:ln w="762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427464" y="5742432"/>
            <a:ext cx="2432304" cy="566928"/>
          </a:xfrm>
          <a:prstGeom prst="rect">
            <a:avLst/>
          </a:prstGeom>
          <a:noFill/>
        </p:spPr>
        <p:txBody>
          <a:bodyPr wrap="square">
            <a:spAutoFit/>
          </a:bodyPr>
          <a:lstStyle/>
          <a:p>
            <a:pPr algn="l"/>
            <a:r>
              <a:rPr sz="1000" b="0">
                <a:solidFill>
                  <a:srgbClr val="B0BAD4"/>
                </a:solidFill>
              </a:rPr>
              <a:t>Contact faculty through the parent-teacher module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98448"/>
          </a:xfrm>
          <a:prstGeom prst="rect">
            <a:avLst/>
          </a:prstGeom>
          <a:solidFill>
            <a:srgbClr val="0D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094476" cy="64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4476" y="0"/>
            <a:ext cx="6094476"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09728"/>
            <a:ext cx="11430000" cy="685800"/>
          </a:xfrm>
          <a:prstGeom prst="rect">
            <a:avLst/>
          </a:prstGeom>
          <a:noFill/>
        </p:spPr>
        <p:txBody>
          <a:bodyPr wrap="square">
            <a:spAutoFit/>
          </a:bodyPr>
          <a:lstStyle/>
          <a:p>
            <a:pPr algn="l"/>
            <a:r>
              <a:rPr sz="2900" b="1">
                <a:solidFill>
                  <a:srgbClr val="FFFFFF"/>
                </a:solidFill>
              </a:rPr>
              <a:t>Potential Impact</a:t>
            </a:r>
          </a:p>
        </p:txBody>
      </p:sp>
      <p:sp>
        <p:nvSpPr>
          <p:cNvPr id="6" name="TextBox 5"/>
          <p:cNvSpPr txBox="1"/>
          <p:nvPr/>
        </p:nvSpPr>
        <p:spPr>
          <a:xfrm>
            <a:off x="365760" y="768096"/>
            <a:ext cx="11430000" cy="420624"/>
          </a:xfrm>
          <a:prstGeom prst="rect">
            <a:avLst/>
          </a:prstGeom>
          <a:noFill/>
        </p:spPr>
        <p:txBody>
          <a:bodyPr wrap="square">
            <a:spAutoFit/>
          </a:bodyPr>
          <a:lstStyle/>
          <a:p>
            <a:pPr algn="l"/>
            <a:r>
              <a:rPr sz="1250" b="0">
                <a:solidFill>
                  <a:srgbClr val="B0BAD4"/>
                </a:solidFill>
              </a:rPr>
              <a:t>EduSphere's measurable outcomes for students, faculty, institutions, and the education sector</a:t>
            </a:r>
          </a:p>
        </p:txBody>
      </p:sp>
      <p:sp>
        <p:nvSpPr>
          <p:cNvPr id="7" name="Rectangle 6"/>
          <p:cNvSpPr/>
          <p:nvPr/>
        </p:nvSpPr>
        <p:spPr>
          <a:xfrm>
            <a:off x="365760" y="1225296"/>
            <a:ext cx="2514600" cy="457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880360" y="1225296"/>
            <a:ext cx="2514600"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371600"/>
            <a:ext cx="2816352" cy="1627632"/>
          </a:xfrm>
          <a:prstGeom prst="rect">
            <a:avLst/>
          </a:prstGeom>
          <a:solidFill>
            <a:srgbClr val="0C1426"/>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444752"/>
            <a:ext cx="2651760" cy="713232"/>
          </a:xfrm>
          <a:prstGeom prst="rect">
            <a:avLst/>
          </a:prstGeom>
          <a:noFill/>
        </p:spPr>
        <p:txBody>
          <a:bodyPr wrap="square">
            <a:spAutoFit/>
          </a:bodyPr>
          <a:lstStyle/>
          <a:p>
            <a:pPr algn="ctr"/>
            <a:r>
              <a:rPr sz="3400" b="1">
                <a:solidFill>
                  <a:srgbClr val="6366F1"/>
                </a:solidFill>
              </a:rPr>
              <a:t>80%</a:t>
            </a:r>
          </a:p>
        </p:txBody>
      </p:sp>
      <p:sp>
        <p:nvSpPr>
          <p:cNvPr id="11" name="TextBox 10"/>
          <p:cNvSpPr txBox="1"/>
          <p:nvPr/>
        </p:nvSpPr>
        <p:spPr>
          <a:xfrm>
            <a:off x="457200" y="2139696"/>
            <a:ext cx="2651760" cy="749808"/>
          </a:xfrm>
          <a:prstGeom prst="rect">
            <a:avLst/>
          </a:prstGeom>
          <a:noFill/>
        </p:spPr>
        <p:txBody>
          <a:bodyPr wrap="square">
            <a:spAutoFit/>
          </a:bodyPr>
          <a:lstStyle/>
          <a:p>
            <a:pPr algn="ctr"/>
            <a:r>
              <a:rPr sz="1100" b="0">
                <a:solidFill>
                  <a:srgbClr val="B0BAD4"/>
                </a:solidFill>
              </a:rPr>
              <a:t>Reduction in routine
admin query load</a:t>
            </a:r>
          </a:p>
        </p:txBody>
      </p:sp>
      <p:sp>
        <p:nvSpPr>
          <p:cNvPr id="12" name="Rectangle 11"/>
          <p:cNvSpPr/>
          <p:nvPr/>
        </p:nvSpPr>
        <p:spPr>
          <a:xfrm>
            <a:off x="3319272" y="1371600"/>
            <a:ext cx="2816352" cy="1627632"/>
          </a:xfrm>
          <a:prstGeom prst="rect">
            <a:avLst/>
          </a:prstGeom>
          <a:solidFill>
            <a:srgbClr val="0C142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10712" y="1444752"/>
            <a:ext cx="2651760" cy="713232"/>
          </a:xfrm>
          <a:prstGeom prst="rect">
            <a:avLst/>
          </a:prstGeom>
          <a:noFill/>
        </p:spPr>
        <p:txBody>
          <a:bodyPr wrap="square">
            <a:spAutoFit/>
          </a:bodyPr>
          <a:lstStyle/>
          <a:p>
            <a:pPr algn="ctr"/>
            <a:r>
              <a:rPr sz="3400" b="1">
                <a:solidFill>
                  <a:srgbClr val="06B6D4"/>
                </a:solidFill>
              </a:rPr>
              <a:t>60%</a:t>
            </a:r>
          </a:p>
        </p:txBody>
      </p:sp>
      <p:sp>
        <p:nvSpPr>
          <p:cNvPr id="14" name="TextBox 13"/>
          <p:cNvSpPr txBox="1"/>
          <p:nvPr/>
        </p:nvSpPr>
        <p:spPr>
          <a:xfrm>
            <a:off x="3410712" y="2139696"/>
            <a:ext cx="2651760" cy="749808"/>
          </a:xfrm>
          <a:prstGeom prst="rect">
            <a:avLst/>
          </a:prstGeom>
          <a:noFill/>
        </p:spPr>
        <p:txBody>
          <a:bodyPr wrap="square">
            <a:spAutoFit/>
          </a:bodyPr>
          <a:lstStyle/>
          <a:p>
            <a:pPr algn="ctr"/>
            <a:r>
              <a:rPr sz="1100" b="0">
                <a:solidFill>
                  <a:srgbClr val="B0BAD4"/>
                </a:solidFill>
              </a:rPr>
              <a:t>Faster fee collection
with AI reminders</a:t>
            </a:r>
          </a:p>
        </p:txBody>
      </p:sp>
      <p:sp>
        <p:nvSpPr>
          <p:cNvPr id="15" name="Rectangle 14"/>
          <p:cNvSpPr/>
          <p:nvPr/>
        </p:nvSpPr>
        <p:spPr>
          <a:xfrm>
            <a:off x="6272784" y="1371600"/>
            <a:ext cx="2816352" cy="1627632"/>
          </a:xfrm>
          <a:prstGeom prst="rect">
            <a:avLst/>
          </a:prstGeom>
          <a:solidFill>
            <a:srgbClr val="0C1426"/>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64224" y="1444752"/>
            <a:ext cx="2651760" cy="713232"/>
          </a:xfrm>
          <a:prstGeom prst="rect">
            <a:avLst/>
          </a:prstGeom>
          <a:noFill/>
        </p:spPr>
        <p:txBody>
          <a:bodyPr wrap="square">
            <a:spAutoFit/>
          </a:bodyPr>
          <a:lstStyle/>
          <a:p>
            <a:pPr algn="ctr"/>
            <a:r>
              <a:rPr sz="3400" b="1">
                <a:solidFill>
                  <a:srgbClr val="A855F7"/>
                </a:solidFill>
              </a:rPr>
              <a:t>40%</a:t>
            </a:r>
          </a:p>
        </p:txBody>
      </p:sp>
      <p:sp>
        <p:nvSpPr>
          <p:cNvPr id="17" name="TextBox 16"/>
          <p:cNvSpPr txBox="1"/>
          <p:nvPr/>
        </p:nvSpPr>
        <p:spPr>
          <a:xfrm>
            <a:off x="6364224" y="2139696"/>
            <a:ext cx="2651760" cy="749808"/>
          </a:xfrm>
          <a:prstGeom prst="rect">
            <a:avLst/>
          </a:prstGeom>
          <a:noFill/>
        </p:spPr>
        <p:txBody>
          <a:bodyPr wrap="square">
            <a:spAutoFit/>
          </a:bodyPr>
          <a:lstStyle/>
          <a:p>
            <a:pPr algn="ctr"/>
            <a:r>
              <a:rPr sz="1100" b="0">
                <a:solidFill>
                  <a:srgbClr val="B0BAD4"/>
                </a:solidFill>
              </a:rPr>
              <a:t>Better student
engagement &amp; retention</a:t>
            </a:r>
          </a:p>
        </p:txBody>
      </p:sp>
      <p:sp>
        <p:nvSpPr>
          <p:cNvPr id="18" name="Rectangle 17"/>
          <p:cNvSpPr/>
          <p:nvPr/>
        </p:nvSpPr>
        <p:spPr>
          <a:xfrm>
            <a:off x="9226296" y="1371600"/>
            <a:ext cx="2816352" cy="1627632"/>
          </a:xfrm>
          <a:prstGeom prst="rect">
            <a:avLst/>
          </a:prstGeom>
          <a:solidFill>
            <a:srgbClr val="0C1426"/>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17736" y="1444752"/>
            <a:ext cx="2651760" cy="713232"/>
          </a:xfrm>
          <a:prstGeom prst="rect">
            <a:avLst/>
          </a:prstGeom>
          <a:noFill/>
        </p:spPr>
        <p:txBody>
          <a:bodyPr wrap="square">
            <a:spAutoFit/>
          </a:bodyPr>
          <a:lstStyle/>
          <a:p>
            <a:pPr algn="ctr"/>
            <a:r>
              <a:rPr sz="3400" b="1">
                <a:solidFill>
                  <a:srgbClr val="F5A623"/>
                </a:solidFill>
              </a:rPr>
              <a:t>100%</a:t>
            </a:r>
          </a:p>
        </p:txBody>
      </p:sp>
      <p:sp>
        <p:nvSpPr>
          <p:cNvPr id="20" name="TextBox 19"/>
          <p:cNvSpPr txBox="1"/>
          <p:nvPr/>
        </p:nvSpPr>
        <p:spPr>
          <a:xfrm>
            <a:off x="9317736" y="2139696"/>
            <a:ext cx="2651760" cy="749808"/>
          </a:xfrm>
          <a:prstGeom prst="rect">
            <a:avLst/>
          </a:prstGeom>
          <a:noFill/>
        </p:spPr>
        <p:txBody>
          <a:bodyPr wrap="square">
            <a:spAutoFit/>
          </a:bodyPr>
          <a:lstStyle/>
          <a:p>
            <a:pPr algn="ctr"/>
            <a:r>
              <a:rPr sz="1100" b="0">
                <a:solidFill>
                  <a:srgbClr val="B0BAD4"/>
                </a:solidFill>
              </a:rPr>
              <a:t>AI uptime with
tiered fallback system</a:t>
            </a:r>
          </a:p>
        </p:txBody>
      </p:sp>
      <p:sp>
        <p:nvSpPr>
          <p:cNvPr id="21" name="Rectangle 20"/>
          <p:cNvSpPr/>
          <p:nvPr/>
        </p:nvSpPr>
        <p:spPr>
          <a:xfrm>
            <a:off x="365760" y="3154680"/>
            <a:ext cx="3749039" cy="3493008"/>
          </a:xfrm>
          <a:prstGeom prst="rect">
            <a:avLst/>
          </a:prstGeom>
          <a:solidFill>
            <a:srgbClr val="0C1426"/>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65760" y="3154680"/>
            <a:ext cx="3749039" cy="42062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20624" y="3209544"/>
            <a:ext cx="3639312" cy="329184"/>
          </a:xfrm>
          <a:prstGeom prst="rect">
            <a:avLst/>
          </a:prstGeom>
          <a:noFill/>
        </p:spPr>
        <p:txBody>
          <a:bodyPr wrap="square">
            <a:spAutoFit/>
          </a:bodyPr>
          <a:lstStyle/>
          <a:p>
            <a:pPr algn="l"/>
            <a:r>
              <a:rPr sz="1300" b="1">
                <a:solidFill>
                  <a:srgbClr val="FFFFFF"/>
                </a:solidFill>
              </a:rPr>
              <a:t>  For Students</a:t>
            </a:r>
          </a:p>
        </p:txBody>
      </p:sp>
      <p:sp>
        <p:nvSpPr>
          <p:cNvPr id="24" name="TextBox 23"/>
          <p:cNvSpPr txBox="1"/>
          <p:nvPr/>
        </p:nvSpPr>
        <p:spPr>
          <a:xfrm>
            <a:off x="493776" y="3657600"/>
            <a:ext cx="3566160" cy="1546577"/>
          </a:xfrm>
          <a:prstGeom prst="rect">
            <a:avLst/>
          </a:prstGeom>
          <a:noFill/>
        </p:spPr>
        <p:txBody>
          <a:bodyPr wrap="square">
            <a:spAutoFit/>
          </a:bodyPr>
          <a:lstStyle/>
          <a:p>
            <a:pPr algn="just"/>
            <a:r>
              <a:rPr sz="1050" b="0" dirty="0">
                <a:solidFill>
                  <a:srgbClr val="B0BAD4"/>
                </a:solidFill>
              </a:rPr>
              <a:t>Students get a single, beautiful portal that feels like a premium consumer app — not a government system. The AI assistant means no more waiting in queues or unanswered WhatsApp messages. Personalized timetables, fee alerts, and exam countdowns reduce anxiety and improve academic focus.
Estimated time saved per student: 2-3 hours per week in information-seeking.</a:t>
            </a:r>
          </a:p>
        </p:txBody>
      </p:sp>
      <p:sp>
        <p:nvSpPr>
          <p:cNvPr id="25" name="Rectangle 24"/>
          <p:cNvSpPr/>
          <p:nvPr/>
        </p:nvSpPr>
        <p:spPr>
          <a:xfrm>
            <a:off x="4297680" y="3154680"/>
            <a:ext cx="3749039" cy="3493008"/>
          </a:xfrm>
          <a:prstGeom prst="rect">
            <a:avLst/>
          </a:prstGeom>
          <a:solidFill>
            <a:srgbClr val="0C142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297680" y="3154680"/>
            <a:ext cx="3749039" cy="42062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352544" y="3209544"/>
            <a:ext cx="3639312" cy="329184"/>
          </a:xfrm>
          <a:prstGeom prst="rect">
            <a:avLst/>
          </a:prstGeom>
          <a:noFill/>
        </p:spPr>
        <p:txBody>
          <a:bodyPr wrap="square">
            <a:spAutoFit/>
          </a:bodyPr>
          <a:lstStyle/>
          <a:p>
            <a:pPr algn="l"/>
            <a:r>
              <a:rPr sz="1300" b="1">
                <a:solidFill>
                  <a:srgbClr val="FFFFFF"/>
                </a:solidFill>
              </a:rPr>
              <a:t>  For Institutions</a:t>
            </a:r>
          </a:p>
        </p:txBody>
      </p:sp>
      <p:sp>
        <p:nvSpPr>
          <p:cNvPr id="28" name="TextBox 27"/>
          <p:cNvSpPr txBox="1"/>
          <p:nvPr/>
        </p:nvSpPr>
        <p:spPr>
          <a:xfrm>
            <a:off x="4425696" y="3657600"/>
            <a:ext cx="3566160" cy="1384995"/>
          </a:xfrm>
          <a:prstGeom prst="rect">
            <a:avLst/>
          </a:prstGeom>
          <a:noFill/>
        </p:spPr>
        <p:txBody>
          <a:bodyPr wrap="square">
            <a:spAutoFit/>
          </a:bodyPr>
          <a:lstStyle/>
          <a:p>
            <a:pPr algn="just"/>
            <a:r>
              <a:rPr sz="1050" b="0" dirty="0">
                <a:solidFill>
                  <a:srgbClr val="B0BAD4"/>
                </a:solidFill>
              </a:rPr>
              <a:t>Administrative staff are freed from repetitive data entry and query handling, allowing them to focus on strategic work. Fee collection rates improve through automated reminders. Data-driven analytics help identify at-risk students early — enabling proactive intervention before dropout.
Estimated admin cost reduction: 35-50% in routine support operations.</a:t>
            </a:r>
          </a:p>
        </p:txBody>
      </p:sp>
      <p:sp>
        <p:nvSpPr>
          <p:cNvPr id="29" name="Rectangle 28"/>
          <p:cNvSpPr/>
          <p:nvPr/>
        </p:nvSpPr>
        <p:spPr>
          <a:xfrm>
            <a:off x="8229600" y="3154680"/>
            <a:ext cx="3749039" cy="3493008"/>
          </a:xfrm>
          <a:prstGeom prst="rect">
            <a:avLst/>
          </a:prstGeom>
          <a:solidFill>
            <a:srgbClr val="0C1426"/>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229600" y="3154680"/>
            <a:ext cx="3749039" cy="420624"/>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84464" y="3209544"/>
            <a:ext cx="3639312" cy="329184"/>
          </a:xfrm>
          <a:prstGeom prst="rect">
            <a:avLst/>
          </a:prstGeom>
          <a:noFill/>
        </p:spPr>
        <p:txBody>
          <a:bodyPr wrap="square">
            <a:spAutoFit/>
          </a:bodyPr>
          <a:lstStyle/>
          <a:p>
            <a:pPr algn="l"/>
            <a:r>
              <a:rPr sz="1300" b="1">
                <a:solidFill>
                  <a:srgbClr val="FFFFFF"/>
                </a:solidFill>
              </a:rPr>
              <a:t>  For the EdTech Ecosystem</a:t>
            </a:r>
          </a:p>
        </p:txBody>
      </p:sp>
      <p:sp>
        <p:nvSpPr>
          <p:cNvPr id="32" name="TextBox 31"/>
          <p:cNvSpPr txBox="1"/>
          <p:nvPr/>
        </p:nvSpPr>
        <p:spPr>
          <a:xfrm>
            <a:off x="8357616" y="3657600"/>
            <a:ext cx="3566160" cy="1384995"/>
          </a:xfrm>
          <a:prstGeom prst="rect">
            <a:avLst/>
          </a:prstGeom>
          <a:noFill/>
        </p:spPr>
        <p:txBody>
          <a:bodyPr wrap="square">
            <a:spAutoFit/>
          </a:bodyPr>
          <a:lstStyle/>
          <a:p>
            <a:pPr algn="just"/>
            <a:r>
              <a:rPr sz="1050" b="0" dirty="0" err="1">
                <a:solidFill>
                  <a:srgbClr val="B0BAD4"/>
                </a:solidFill>
              </a:rPr>
              <a:t>EduSphere</a:t>
            </a:r>
            <a:r>
              <a:rPr sz="1050" b="0" dirty="0">
                <a:solidFill>
                  <a:srgbClr val="B0BAD4"/>
                </a:solidFill>
              </a:rPr>
              <a:t> demonstrates that world-class AI-powered ERP can be built affordably with open-source tools and free-tier APIs. As a SaaS product, it can serve 1,000s of institutions — impacting millions of students across India and scaling to SE Asia, Africa, and beyond.
Addressable market: 50,000+ Indian institutions, $12B+ opportunity.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98448"/>
          </a:xfrm>
          <a:prstGeom prst="rect">
            <a:avLst/>
          </a:prstGeom>
          <a:solidFill>
            <a:srgbClr val="0D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094476" cy="64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4476" y="0"/>
            <a:ext cx="6094476"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09728"/>
            <a:ext cx="11430000" cy="685800"/>
          </a:xfrm>
          <a:prstGeom prst="rect">
            <a:avLst/>
          </a:prstGeom>
          <a:noFill/>
        </p:spPr>
        <p:txBody>
          <a:bodyPr wrap="square">
            <a:spAutoFit/>
          </a:bodyPr>
          <a:lstStyle/>
          <a:p>
            <a:pPr algn="l"/>
            <a:r>
              <a:rPr sz="2900" b="1">
                <a:solidFill>
                  <a:srgbClr val="FFFFFF"/>
                </a:solidFill>
              </a:rPr>
              <a:t>Product Roadmap: From Idea to Enterprise</a:t>
            </a:r>
          </a:p>
        </p:txBody>
      </p:sp>
      <p:sp>
        <p:nvSpPr>
          <p:cNvPr id="6" name="TextBox 5"/>
          <p:cNvSpPr txBox="1"/>
          <p:nvPr/>
        </p:nvSpPr>
        <p:spPr>
          <a:xfrm>
            <a:off x="365760" y="768096"/>
            <a:ext cx="11430000" cy="420624"/>
          </a:xfrm>
          <a:prstGeom prst="rect">
            <a:avLst/>
          </a:prstGeom>
          <a:noFill/>
        </p:spPr>
        <p:txBody>
          <a:bodyPr wrap="square">
            <a:spAutoFit/>
          </a:bodyPr>
          <a:lstStyle/>
          <a:p>
            <a:pPr algn="l"/>
            <a:r>
              <a:rPr sz="1250" b="0">
                <a:solidFill>
                  <a:srgbClr val="B0BAD4"/>
                </a:solidFill>
              </a:rPr>
              <a:t>A phased strategy to evolve EduSphere from hackathon prototype to a national EdTech platform</a:t>
            </a:r>
          </a:p>
        </p:txBody>
      </p:sp>
      <p:sp>
        <p:nvSpPr>
          <p:cNvPr id="7" name="Rectangle 6"/>
          <p:cNvSpPr/>
          <p:nvPr/>
        </p:nvSpPr>
        <p:spPr>
          <a:xfrm>
            <a:off x="365760" y="1225296"/>
            <a:ext cx="2514600" cy="457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880360" y="1225296"/>
            <a:ext cx="2514600"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371600"/>
            <a:ext cx="2816352" cy="5230368"/>
          </a:xfrm>
          <a:prstGeom prst="rect">
            <a:avLst/>
          </a:prstGeom>
          <a:solidFill>
            <a:srgbClr val="0C1426"/>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5760" y="1371600"/>
            <a:ext cx="2816352" cy="8412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1408176"/>
            <a:ext cx="2651760" cy="786384"/>
          </a:xfrm>
          <a:prstGeom prst="rect">
            <a:avLst/>
          </a:prstGeom>
          <a:noFill/>
        </p:spPr>
        <p:txBody>
          <a:bodyPr wrap="square">
            <a:spAutoFit/>
          </a:bodyPr>
          <a:lstStyle/>
          <a:p>
            <a:pPr algn="ctr"/>
            <a:r>
              <a:rPr sz="1200" b="1">
                <a:solidFill>
                  <a:srgbClr val="FFFFFF"/>
                </a:solidFill>
              </a:rPr>
              <a:t>Phase 1
Hackathon
(Day 1)</a:t>
            </a:r>
          </a:p>
        </p:txBody>
      </p:sp>
      <p:sp>
        <p:nvSpPr>
          <p:cNvPr id="12" name="TextBox 11"/>
          <p:cNvSpPr txBox="1"/>
          <p:nvPr/>
        </p:nvSpPr>
        <p:spPr>
          <a:xfrm>
            <a:off x="475488" y="2322576"/>
            <a:ext cx="2651760" cy="475488"/>
          </a:xfrm>
          <a:prstGeom prst="rect">
            <a:avLst/>
          </a:prstGeom>
          <a:noFill/>
        </p:spPr>
        <p:txBody>
          <a:bodyPr wrap="square">
            <a:spAutoFit/>
          </a:bodyPr>
          <a:lstStyle/>
          <a:p>
            <a:pPr algn="l"/>
            <a:r>
              <a:rPr sz="1050" b="0">
                <a:solidFill>
                  <a:srgbClr val="B0BAD4"/>
                </a:solidFill>
              </a:rPr>
              <a:t>  + Core ERP: 6 full modules</a:t>
            </a:r>
          </a:p>
        </p:txBody>
      </p:sp>
      <p:sp>
        <p:nvSpPr>
          <p:cNvPr id="13" name="TextBox 12"/>
          <p:cNvSpPr txBox="1"/>
          <p:nvPr/>
        </p:nvSpPr>
        <p:spPr>
          <a:xfrm>
            <a:off x="475488" y="2862072"/>
            <a:ext cx="2651760" cy="475488"/>
          </a:xfrm>
          <a:prstGeom prst="rect">
            <a:avLst/>
          </a:prstGeom>
          <a:noFill/>
        </p:spPr>
        <p:txBody>
          <a:bodyPr wrap="square">
            <a:spAutoFit/>
          </a:bodyPr>
          <a:lstStyle/>
          <a:p>
            <a:pPr algn="l"/>
            <a:r>
              <a:rPr sz="1050" b="0">
                <a:solidFill>
                  <a:srgbClr val="B0BAD4"/>
                </a:solidFill>
              </a:rPr>
              <a:t>  + Student + Faculty + Admin + Parent roles</a:t>
            </a:r>
          </a:p>
        </p:txBody>
      </p:sp>
      <p:sp>
        <p:nvSpPr>
          <p:cNvPr id="14" name="TextBox 13"/>
          <p:cNvSpPr txBox="1"/>
          <p:nvPr/>
        </p:nvSpPr>
        <p:spPr>
          <a:xfrm>
            <a:off x="475488" y="3401568"/>
            <a:ext cx="2651760" cy="475488"/>
          </a:xfrm>
          <a:prstGeom prst="rect">
            <a:avLst/>
          </a:prstGeom>
          <a:noFill/>
        </p:spPr>
        <p:txBody>
          <a:bodyPr wrap="square">
            <a:spAutoFit/>
          </a:bodyPr>
          <a:lstStyle/>
          <a:p>
            <a:pPr algn="l"/>
            <a:r>
              <a:rPr sz="1050" b="0">
                <a:solidFill>
                  <a:srgbClr val="B0BAD4"/>
                </a:solidFill>
              </a:rPr>
              <a:t>  + Google Gemini AI integration</a:t>
            </a:r>
          </a:p>
        </p:txBody>
      </p:sp>
      <p:sp>
        <p:nvSpPr>
          <p:cNvPr id="15" name="TextBox 14"/>
          <p:cNvSpPr txBox="1"/>
          <p:nvPr/>
        </p:nvSpPr>
        <p:spPr>
          <a:xfrm>
            <a:off x="475488" y="3941064"/>
            <a:ext cx="2651760" cy="475488"/>
          </a:xfrm>
          <a:prstGeom prst="rect">
            <a:avLst/>
          </a:prstGeom>
          <a:noFill/>
        </p:spPr>
        <p:txBody>
          <a:bodyPr wrap="square">
            <a:spAutoFit/>
          </a:bodyPr>
          <a:lstStyle/>
          <a:p>
            <a:pPr algn="l"/>
            <a:r>
              <a:rPr sz="1050" b="0">
                <a:solidFill>
                  <a:srgbClr val="B0BAD4"/>
                </a:solidFill>
              </a:rPr>
              <a:t>  + Razorpay payment gateway</a:t>
            </a:r>
          </a:p>
        </p:txBody>
      </p:sp>
      <p:sp>
        <p:nvSpPr>
          <p:cNvPr id="16" name="TextBox 15"/>
          <p:cNvSpPr txBox="1"/>
          <p:nvPr/>
        </p:nvSpPr>
        <p:spPr>
          <a:xfrm>
            <a:off x="475488" y="4480560"/>
            <a:ext cx="2651760" cy="475488"/>
          </a:xfrm>
          <a:prstGeom prst="rect">
            <a:avLst/>
          </a:prstGeom>
          <a:noFill/>
        </p:spPr>
        <p:txBody>
          <a:bodyPr wrap="square">
            <a:spAutoFit/>
          </a:bodyPr>
          <a:lstStyle/>
          <a:p>
            <a:pPr algn="l"/>
            <a:r>
              <a:rPr sz="1050" b="0">
                <a:solidFill>
                  <a:srgbClr val="B0BAD4"/>
                </a:solidFill>
              </a:rPr>
              <a:t>  + Hall ticket &amp; grade history</a:t>
            </a:r>
          </a:p>
        </p:txBody>
      </p:sp>
      <p:sp>
        <p:nvSpPr>
          <p:cNvPr id="17" name="TextBox 16"/>
          <p:cNvSpPr txBox="1"/>
          <p:nvPr/>
        </p:nvSpPr>
        <p:spPr>
          <a:xfrm>
            <a:off x="475488" y="5020056"/>
            <a:ext cx="2651760" cy="475488"/>
          </a:xfrm>
          <a:prstGeom prst="rect">
            <a:avLst/>
          </a:prstGeom>
          <a:noFill/>
        </p:spPr>
        <p:txBody>
          <a:bodyPr wrap="square">
            <a:spAutoFit/>
          </a:bodyPr>
          <a:lstStyle/>
          <a:p>
            <a:pPr algn="l"/>
            <a:r>
              <a:rPr sz="1050" b="0">
                <a:solidFill>
                  <a:srgbClr val="B0BAD4"/>
                </a:solidFill>
              </a:rPr>
              <a:t>  + Digital notice board &amp; community</a:t>
            </a:r>
          </a:p>
        </p:txBody>
      </p:sp>
      <p:sp>
        <p:nvSpPr>
          <p:cNvPr id="18" name="TextBox 17"/>
          <p:cNvSpPr txBox="1"/>
          <p:nvPr/>
        </p:nvSpPr>
        <p:spPr>
          <a:xfrm>
            <a:off x="475488" y="5559552"/>
            <a:ext cx="2651760" cy="475488"/>
          </a:xfrm>
          <a:prstGeom prst="rect">
            <a:avLst/>
          </a:prstGeom>
          <a:noFill/>
        </p:spPr>
        <p:txBody>
          <a:bodyPr wrap="square">
            <a:spAutoFit/>
          </a:bodyPr>
          <a:lstStyle/>
          <a:p>
            <a:pPr algn="l"/>
            <a:r>
              <a:rPr sz="1050" b="0">
                <a:solidFill>
                  <a:srgbClr val="B0BAD4"/>
                </a:solidFill>
              </a:rPr>
              <a:t>  + Leave approval workflow</a:t>
            </a:r>
          </a:p>
        </p:txBody>
      </p:sp>
      <p:sp>
        <p:nvSpPr>
          <p:cNvPr id="19" name="TextBox 18"/>
          <p:cNvSpPr txBox="1"/>
          <p:nvPr/>
        </p:nvSpPr>
        <p:spPr>
          <a:xfrm>
            <a:off x="475488" y="6099048"/>
            <a:ext cx="2651760" cy="475488"/>
          </a:xfrm>
          <a:prstGeom prst="rect">
            <a:avLst/>
          </a:prstGeom>
          <a:noFill/>
        </p:spPr>
        <p:txBody>
          <a:bodyPr wrap="square">
            <a:spAutoFit/>
          </a:bodyPr>
          <a:lstStyle/>
          <a:p>
            <a:pPr algn="l"/>
            <a:r>
              <a:rPr sz="1050" b="0">
                <a:solidFill>
                  <a:srgbClr val="B0BAD4"/>
                </a:solidFill>
              </a:rPr>
              <a:t>  + Glassmorphism premium UI</a:t>
            </a:r>
          </a:p>
        </p:txBody>
      </p:sp>
      <p:sp>
        <p:nvSpPr>
          <p:cNvPr id="20" name="Rectangle 19"/>
          <p:cNvSpPr/>
          <p:nvPr/>
        </p:nvSpPr>
        <p:spPr>
          <a:xfrm>
            <a:off x="3319272" y="1371600"/>
            <a:ext cx="2816352" cy="5230368"/>
          </a:xfrm>
          <a:prstGeom prst="rect">
            <a:avLst/>
          </a:prstGeom>
          <a:solidFill>
            <a:srgbClr val="0C142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319272" y="1371600"/>
            <a:ext cx="2816352" cy="84124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410712" y="1408176"/>
            <a:ext cx="2651760" cy="786384"/>
          </a:xfrm>
          <a:prstGeom prst="rect">
            <a:avLst/>
          </a:prstGeom>
          <a:noFill/>
        </p:spPr>
        <p:txBody>
          <a:bodyPr wrap="square">
            <a:spAutoFit/>
          </a:bodyPr>
          <a:lstStyle/>
          <a:p>
            <a:pPr algn="ctr"/>
            <a:r>
              <a:rPr sz="1200" b="1">
                <a:solidFill>
                  <a:srgbClr val="FFFFFF"/>
                </a:solidFill>
              </a:rPr>
              <a:t>Phase 2
Post-Hackathon
(Month 1-3)</a:t>
            </a:r>
          </a:p>
        </p:txBody>
      </p:sp>
      <p:sp>
        <p:nvSpPr>
          <p:cNvPr id="23" name="TextBox 22"/>
          <p:cNvSpPr txBox="1"/>
          <p:nvPr/>
        </p:nvSpPr>
        <p:spPr>
          <a:xfrm>
            <a:off x="3429000" y="2322576"/>
            <a:ext cx="2651760" cy="475488"/>
          </a:xfrm>
          <a:prstGeom prst="rect">
            <a:avLst/>
          </a:prstGeom>
          <a:noFill/>
        </p:spPr>
        <p:txBody>
          <a:bodyPr wrap="square">
            <a:spAutoFit/>
          </a:bodyPr>
          <a:lstStyle/>
          <a:p>
            <a:pPr algn="l"/>
            <a:r>
              <a:rPr sz="1050" b="0">
                <a:solidFill>
                  <a:srgbClr val="B0BAD4"/>
                </a:solidFill>
              </a:rPr>
              <a:t>  + Cloud deployment on Vercel</a:t>
            </a:r>
          </a:p>
        </p:txBody>
      </p:sp>
      <p:sp>
        <p:nvSpPr>
          <p:cNvPr id="24" name="TextBox 23"/>
          <p:cNvSpPr txBox="1"/>
          <p:nvPr/>
        </p:nvSpPr>
        <p:spPr>
          <a:xfrm>
            <a:off x="3429000" y="2862072"/>
            <a:ext cx="2651760" cy="475488"/>
          </a:xfrm>
          <a:prstGeom prst="rect">
            <a:avLst/>
          </a:prstGeom>
          <a:noFill/>
        </p:spPr>
        <p:txBody>
          <a:bodyPr wrap="square">
            <a:spAutoFit/>
          </a:bodyPr>
          <a:lstStyle/>
          <a:p>
            <a:pPr algn="l"/>
            <a:r>
              <a:rPr sz="1050" b="0">
                <a:solidFill>
                  <a:srgbClr val="B0BAD4"/>
                </a:solidFill>
              </a:rPr>
              <a:t>  + PostgreSQL production database</a:t>
            </a:r>
          </a:p>
        </p:txBody>
      </p:sp>
      <p:sp>
        <p:nvSpPr>
          <p:cNvPr id="25" name="TextBox 24"/>
          <p:cNvSpPr txBox="1"/>
          <p:nvPr/>
        </p:nvSpPr>
        <p:spPr>
          <a:xfrm>
            <a:off x="3429000" y="3401568"/>
            <a:ext cx="2651760" cy="475488"/>
          </a:xfrm>
          <a:prstGeom prst="rect">
            <a:avLst/>
          </a:prstGeom>
          <a:noFill/>
        </p:spPr>
        <p:txBody>
          <a:bodyPr wrap="square">
            <a:spAutoFit/>
          </a:bodyPr>
          <a:lstStyle/>
          <a:p>
            <a:pPr algn="l"/>
            <a:r>
              <a:rPr sz="1050" b="0">
                <a:solidFill>
                  <a:srgbClr val="B0BAD4"/>
                </a:solidFill>
              </a:rPr>
              <a:t>  + User authentication (NextAuth)</a:t>
            </a:r>
          </a:p>
        </p:txBody>
      </p:sp>
      <p:sp>
        <p:nvSpPr>
          <p:cNvPr id="26" name="TextBox 25"/>
          <p:cNvSpPr txBox="1"/>
          <p:nvPr/>
        </p:nvSpPr>
        <p:spPr>
          <a:xfrm>
            <a:off x="3429000" y="3941064"/>
            <a:ext cx="2651760" cy="475488"/>
          </a:xfrm>
          <a:prstGeom prst="rect">
            <a:avLst/>
          </a:prstGeom>
          <a:noFill/>
        </p:spPr>
        <p:txBody>
          <a:bodyPr wrap="square">
            <a:spAutoFit/>
          </a:bodyPr>
          <a:lstStyle/>
          <a:p>
            <a:pPr algn="l"/>
            <a:r>
              <a:rPr sz="1050" b="0">
                <a:solidFill>
                  <a:srgbClr val="B0BAD4"/>
                </a:solidFill>
              </a:rPr>
              <a:t>  + Email + SMS notifications</a:t>
            </a:r>
          </a:p>
        </p:txBody>
      </p:sp>
      <p:sp>
        <p:nvSpPr>
          <p:cNvPr id="27" name="TextBox 26"/>
          <p:cNvSpPr txBox="1"/>
          <p:nvPr/>
        </p:nvSpPr>
        <p:spPr>
          <a:xfrm>
            <a:off x="3429000" y="4480560"/>
            <a:ext cx="2651760" cy="475488"/>
          </a:xfrm>
          <a:prstGeom prst="rect">
            <a:avLst/>
          </a:prstGeom>
          <a:noFill/>
        </p:spPr>
        <p:txBody>
          <a:bodyPr wrap="square">
            <a:spAutoFit/>
          </a:bodyPr>
          <a:lstStyle/>
          <a:p>
            <a:pPr algn="l"/>
            <a:r>
              <a:rPr sz="1050" b="0">
                <a:solidFill>
                  <a:srgbClr val="B0BAD4"/>
                </a:solidFill>
              </a:rPr>
              <a:t>  + Bulk CSV data import</a:t>
            </a:r>
          </a:p>
        </p:txBody>
      </p:sp>
      <p:sp>
        <p:nvSpPr>
          <p:cNvPr id="28" name="TextBox 27"/>
          <p:cNvSpPr txBox="1"/>
          <p:nvPr/>
        </p:nvSpPr>
        <p:spPr>
          <a:xfrm>
            <a:off x="3429000" y="5020056"/>
            <a:ext cx="2651760" cy="475488"/>
          </a:xfrm>
          <a:prstGeom prst="rect">
            <a:avLst/>
          </a:prstGeom>
          <a:noFill/>
        </p:spPr>
        <p:txBody>
          <a:bodyPr wrap="square">
            <a:spAutoFit/>
          </a:bodyPr>
          <a:lstStyle/>
          <a:p>
            <a:pPr algn="l"/>
            <a:r>
              <a:rPr sz="1050" b="0">
                <a:solidFill>
                  <a:srgbClr val="B0BAD4"/>
                </a:solidFill>
              </a:rPr>
              <a:t>  + Mobile-responsive refinements</a:t>
            </a:r>
          </a:p>
        </p:txBody>
      </p:sp>
      <p:sp>
        <p:nvSpPr>
          <p:cNvPr id="29" name="TextBox 28"/>
          <p:cNvSpPr txBox="1"/>
          <p:nvPr/>
        </p:nvSpPr>
        <p:spPr>
          <a:xfrm>
            <a:off x="3429000" y="5559552"/>
            <a:ext cx="2651760" cy="475488"/>
          </a:xfrm>
          <a:prstGeom prst="rect">
            <a:avLst/>
          </a:prstGeom>
          <a:noFill/>
        </p:spPr>
        <p:txBody>
          <a:bodyPr wrap="square">
            <a:spAutoFit/>
          </a:bodyPr>
          <a:lstStyle/>
          <a:p>
            <a:pPr algn="l"/>
            <a:r>
              <a:rPr sz="1050" b="0">
                <a:solidFill>
                  <a:srgbClr val="B0BAD4"/>
                </a:solidFill>
              </a:rPr>
              <a:t>  + Performance optimization</a:t>
            </a:r>
          </a:p>
        </p:txBody>
      </p:sp>
      <p:sp>
        <p:nvSpPr>
          <p:cNvPr id="30" name="TextBox 29"/>
          <p:cNvSpPr txBox="1"/>
          <p:nvPr/>
        </p:nvSpPr>
        <p:spPr>
          <a:xfrm>
            <a:off x="3429000" y="6099048"/>
            <a:ext cx="2651760" cy="475488"/>
          </a:xfrm>
          <a:prstGeom prst="rect">
            <a:avLst/>
          </a:prstGeom>
          <a:noFill/>
        </p:spPr>
        <p:txBody>
          <a:bodyPr wrap="square">
            <a:spAutoFit/>
          </a:bodyPr>
          <a:lstStyle/>
          <a:p>
            <a:pPr algn="l"/>
            <a:r>
              <a:rPr sz="1050" b="0">
                <a:solidFill>
                  <a:srgbClr val="B0BAD4"/>
                </a:solidFill>
              </a:rPr>
              <a:t>  + Beta testing with 1 college</a:t>
            </a:r>
          </a:p>
        </p:txBody>
      </p:sp>
      <p:sp>
        <p:nvSpPr>
          <p:cNvPr id="31" name="Rectangle 30"/>
          <p:cNvSpPr/>
          <p:nvPr/>
        </p:nvSpPr>
        <p:spPr>
          <a:xfrm>
            <a:off x="6272784" y="1371600"/>
            <a:ext cx="2816352" cy="5230368"/>
          </a:xfrm>
          <a:prstGeom prst="rect">
            <a:avLst/>
          </a:prstGeom>
          <a:solidFill>
            <a:srgbClr val="0C1426"/>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272784" y="1371600"/>
            <a:ext cx="2816352" cy="841248"/>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64224" y="1408176"/>
            <a:ext cx="2651760" cy="786384"/>
          </a:xfrm>
          <a:prstGeom prst="rect">
            <a:avLst/>
          </a:prstGeom>
          <a:noFill/>
        </p:spPr>
        <p:txBody>
          <a:bodyPr wrap="square">
            <a:spAutoFit/>
          </a:bodyPr>
          <a:lstStyle/>
          <a:p>
            <a:pPr algn="ctr"/>
            <a:r>
              <a:rPr sz="1200" b="1">
                <a:solidFill>
                  <a:srgbClr val="FFFFFF"/>
                </a:solidFill>
              </a:rPr>
              <a:t>Phase 3
Growth
(Month 3-9)</a:t>
            </a:r>
          </a:p>
        </p:txBody>
      </p:sp>
      <p:sp>
        <p:nvSpPr>
          <p:cNvPr id="34" name="TextBox 33"/>
          <p:cNvSpPr txBox="1"/>
          <p:nvPr/>
        </p:nvSpPr>
        <p:spPr>
          <a:xfrm>
            <a:off x="6382512" y="2322576"/>
            <a:ext cx="2651760" cy="475488"/>
          </a:xfrm>
          <a:prstGeom prst="rect">
            <a:avLst/>
          </a:prstGeom>
          <a:noFill/>
        </p:spPr>
        <p:txBody>
          <a:bodyPr wrap="square">
            <a:spAutoFit/>
          </a:bodyPr>
          <a:lstStyle/>
          <a:p>
            <a:pPr algn="l"/>
            <a:r>
              <a:rPr sz="1050" b="0">
                <a:solidFill>
                  <a:srgbClr val="B0BAD4"/>
                </a:solidFill>
              </a:rPr>
              <a:t>  + Predictive dropout risk AI</a:t>
            </a:r>
          </a:p>
        </p:txBody>
      </p:sp>
      <p:sp>
        <p:nvSpPr>
          <p:cNvPr id="35" name="TextBox 34"/>
          <p:cNvSpPr txBox="1"/>
          <p:nvPr/>
        </p:nvSpPr>
        <p:spPr>
          <a:xfrm>
            <a:off x="6382512" y="2862072"/>
            <a:ext cx="2651760" cy="475488"/>
          </a:xfrm>
          <a:prstGeom prst="rect">
            <a:avLst/>
          </a:prstGeom>
          <a:noFill/>
        </p:spPr>
        <p:txBody>
          <a:bodyPr wrap="square">
            <a:spAutoFit/>
          </a:bodyPr>
          <a:lstStyle/>
          <a:p>
            <a:pPr algn="l"/>
            <a:r>
              <a:rPr sz="1050" b="0">
                <a:solidFill>
                  <a:srgbClr val="B0BAD4"/>
                </a:solidFill>
              </a:rPr>
              <a:t>  + Attendance GPS verification</a:t>
            </a:r>
          </a:p>
        </p:txBody>
      </p:sp>
      <p:sp>
        <p:nvSpPr>
          <p:cNvPr id="36" name="TextBox 35"/>
          <p:cNvSpPr txBox="1"/>
          <p:nvPr/>
        </p:nvSpPr>
        <p:spPr>
          <a:xfrm>
            <a:off x="6382512" y="3401568"/>
            <a:ext cx="2651760" cy="475488"/>
          </a:xfrm>
          <a:prstGeom prst="rect">
            <a:avLst/>
          </a:prstGeom>
          <a:noFill/>
        </p:spPr>
        <p:txBody>
          <a:bodyPr wrap="square">
            <a:spAutoFit/>
          </a:bodyPr>
          <a:lstStyle/>
          <a:p>
            <a:pPr algn="l"/>
            <a:r>
              <a:rPr sz="1050" b="0">
                <a:solidFill>
                  <a:srgbClr val="B0BAD4"/>
                </a:solidFill>
              </a:rPr>
              <a:t>  + Assignment submission portal</a:t>
            </a:r>
          </a:p>
        </p:txBody>
      </p:sp>
      <p:sp>
        <p:nvSpPr>
          <p:cNvPr id="37" name="TextBox 36"/>
          <p:cNvSpPr txBox="1"/>
          <p:nvPr/>
        </p:nvSpPr>
        <p:spPr>
          <a:xfrm>
            <a:off x="6382512" y="3941064"/>
            <a:ext cx="2651760" cy="475488"/>
          </a:xfrm>
          <a:prstGeom prst="rect">
            <a:avLst/>
          </a:prstGeom>
          <a:noFill/>
        </p:spPr>
        <p:txBody>
          <a:bodyPr wrap="square">
            <a:spAutoFit/>
          </a:bodyPr>
          <a:lstStyle/>
          <a:p>
            <a:pPr algn="l"/>
            <a:r>
              <a:rPr sz="1050" b="0">
                <a:solidFill>
                  <a:srgbClr val="B0BAD4"/>
                </a:solidFill>
              </a:rPr>
              <a:t>  + Parent-teacher chat module</a:t>
            </a:r>
          </a:p>
        </p:txBody>
      </p:sp>
      <p:sp>
        <p:nvSpPr>
          <p:cNvPr id="38" name="TextBox 37"/>
          <p:cNvSpPr txBox="1"/>
          <p:nvPr/>
        </p:nvSpPr>
        <p:spPr>
          <a:xfrm>
            <a:off x="6382512" y="4480560"/>
            <a:ext cx="2651760" cy="475488"/>
          </a:xfrm>
          <a:prstGeom prst="rect">
            <a:avLst/>
          </a:prstGeom>
          <a:noFill/>
        </p:spPr>
        <p:txBody>
          <a:bodyPr wrap="square">
            <a:spAutoFit/>
          </a:bodyPr>
          <a:lstStyle/>
          <a:p>
            <a:pPr algn="l"/>
            <a:r>
              <a:rPr sz="1050" b="0">
                <a:solidFill>
                  <a:srgbClr val="B0BAD4"/>
                </a:solidFill>
              </a:rPr>
              <a:t>  + LMS integration (Moodle)</a:t>
            </a:r>
          </a:p>
        </p:txBody>
      </p:sp>
      <p:sp>
        <p:nvSpPr>
          <p:cNvPr id="39" name="TextBox 38"/>
          <p:cNvSpPr txBox="1"/>
          <p:nvPr/>
        </p:nvSpPr>
        <p:spPr>
          <a:xfrm>
            <a:off x="6382512" y="5020056"/>
            <a:ext cx="2651760" cy="475488"/>
          </a:xfrm>
          <a:prstGeom prst="rect">
            <a:avLst/>
          </a:prstGeom>
          <a:noFill/>
        </p:spPr>
        <p:txBody>
          <a:bodyPr wrap="square">
            <a:spAutoFit/>
          </a:bodyPr>
          <a:lstStyle/>
          <a:p>
            <a:pPr algn="l"/>
            <a:r>
              <a:rPr sz="1050" b="0">
                <a:solidFill>
                  <a:srgbClr val="B0BAD4"/>
                </a:solidFill>
              </a:rPr>
              <a:t>  + React Native mobile apps</a:t>
            </a:r>
          </a:p>
        </p:txBody>
      </p:sp>
      <p:sp>
        <p:nvSpPr>
          <p:cNvPr id="40" name="TextBox 39"/>
          <p:cNvSpPr txBox="1"/>
          <p:nvPr/>
        </p:nvSpPr>
        <p:spPr>
          <a:xfrm>
            <a:off x="6382512" y="5559552"/>
            <a:ext cx="2651760" cy="475488"/>
          </a:xfrm>
          <a:prstGeom prst="rect">
            <a:avLst/>
          </a:prstGeom>
          <a:noFill/>
        </p:spPr>
        <p:txBody>
          <a:bodyPr wrap="square">
            <a:spAutoFit/>
          </a:bodyPr>
          <a:lstStyle/>
          <a:p>
            <a:pPr algn="l"/>
            <a:r>
              <a:rPr sz="1050" b="0">
                <a:solidFill>
                  <a:srgbClr val="B0BAD4"/>
                </a:solidFill>
              </a:rPr>
              <a:t>  + Push notifications</a:t>
            </a:r>
          </a:p>
        </p:txBody>
      </p:sp>
      <p:sp>
        <p:nvSpPr>
          <p:cNvPr id="41" name="TextBox 40"/>
          <p:cNvSpPr txBox="1"/>
          <p:nvPr/>
        </p:nvSpPr>
        <p:spPr>
          <a:xfrm>
            <a:off x="6382512" y="6099048"/>
            <a:ext cx="2651760" cy="475488"/>
          </a:xfrm>
          <a:prstGeom prst="rect">
            <a:avLst/>
          </a:prstGeom>
          <a:noFill/>
        </p:spPr>
        <p:txBody>
          <a:bodyPr wrap="square">
            <a:spAutoFit/>
          </a:bodyPr>
          <a:lstStyle/>
          <a:p>
            <a:pPr algn="l"/>
            <a:r>
              <a:rPr sz="1050" b="0">
                <a:solidFill>
                  <a:srgbClr val="B0BAD4"/>
                </a:solidFill>
              </a:rPr>
              <a:t>  + Offline sync mode</a:t>
            </a:r>
          </a:p>
        </p:txBody>
      </p:sp>
      <p:sp>
        <p:nvSpPr>
          <p:cNvPr id="42" name="Rectangle 41"/>
          <p:cNvSpPr/>
          <p:nvPr/>
        </p:nvSpPr>
        <p:spPr>
          <a:xfrm>
            <a:off x="9226296" y="1371600"/>
            <a:ext cx="2816352" cy="5230368"/>
          </a:xfrm>
          <a:prstGeom prst="rect">
            <a:avLst/>
          </a:prstGeom>
          <a:solidFill>
            <a:srgbClr val="0C1426"/>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9226296" y="1371600"/>
            <a:ext cx="2816352" cy="84124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317736" y="1408176"/>
            <a:ext cx="2651760" cy="786384"/>
          </a:xfrm>
          <a:prstGeom prst="rect">
            <a:avLst/>
          </a:prstGeom>
          <a:noFill/>
        </p:spPr>
        <p:txBody>
          <a:bodyPr wrap="square">
            <a:spAutoFit/>
          </a:bodyPr>
          <a:lstStyle/>
          <a:p>
            <a:pPr algn="ctr"/>
            <a:r>
              <a:rPr sz="1200" b="1">
                <a:solidFill>
                  <a:srgbClr val="FFFFFF"/>
                </a:solidFill>
              </a:rPr>
              <a:t>Phase 4
Scale
(Year 2+)</a:t>
            </a:r>
          </a:p>
        </p:txBody>
      </p:sp>
      <p:sp>
        <p:nvSpPr>
          <p:cNvPr id="45" name="TextBox 44"/>
          <p:cNvSpPr txBox="1"/>
          <p:nvPr/>
        </p:nvSpPr>
        <p:spPr>
          <a:xfrm>
            <a:off x="9336024" y="2322576"/>
            <a:ext cx="2651760" cy="475488"/>
          </a:xfrm>
          <a:prstGeom prst="rect">
            <a:avLst/>
          </a:prstGeom>
          <a:noFill/>
        </p:spPr>
        <p:txBody>
          <a:bodyPr wrap="square">
            <a:spAutoFit/>
          </a:bodyPr>
          <a:lstStyle/>
          <a:p>
            <a:pPr algn="l"/>
            <a:r>
              <a:rPr sz="1050" b="0">
                <a:solidFill>
                  <a:srgbClr val="B0BAD4"/>
                </a:solidFill>
              </a:rPr>
              <a:t>  + Multi-institution SaaS</a:t>
            </a:r>
          </a:p>
        </p:txBody>
      </p:sp>
      <p:sp>
        <p:nvSpPr>
          <p:cNvPr id="46" name="TextBox 45"/>
          <p:cNvSpPr txBox="1"/>
          <p:nvPr/>
        </p:nvSpPr>
        <p:spPr>
          <a:xfrm>
            <a:off x="9336024" y="2862072"/>
            <a:ext cx="2651760" cy="475488"/>
          </a:xfrm>
          <a:prstGeom prst="rect">
            <a:avLst/>
          </a:prstGeom>
          <a:noFill/>
        </p:spPr>
        <p:txBody>
          <a:bodyPr wrap="square">
            <a:spAutoFit/>
          </a:bodyPr>
          <a:lstStyle/>
          <a:p>
            <a:pPr algn="l"/>
            <a:r>
              <a:rPr sz="1050" b="0">
                <a:solidFill>
                  <a:srgbClr val="B0BAD4"/>
                </a:solidFill>
              </a:rPr>
              <a:t>  + White-label per institution</a:t>
            </a:r>
          </a:p>
        </p:txBody>
      </p:sp>
      <p:sp>
        <p:nvSpPr>
          <p:cNvPr id="47" name="TextBox 46"/>
          <p:cNvSpPr txBox="1"/>
          <p:nvPr/>
        </p:nvSpPr>
        <p:spPr>
          <a:xfrm>
            <a:off x="9336024" y="3401568"/>
            <a:ext cx="2651760" cy="475488"/>
          </a:xfrm>
          <a:prstGeom prst="rect">
            <a:avLst/>
          </a:prstGeom>
          <a:noFill/>
        </p:spPr>
        <p:txBody>
          <a:bodyPr wrap="square">
            <a:spAutoFit/>
          </a:bodyPr>
          <a:lstStyle/>
          <a:p>
            <a:pPr algn="l"/>
            <a:r>
              <a:rPr sz="1050" b="0">
                <a:solidFill>
                  <a:srgbClr val="B0BAD4"/>
                </a:solidFill>
              </a:rPr>
              <a:t>  + State board contracts</a:t>
            </a:r>
          </a:p>
        </p:txBody>
      </p:sp>
      <p:sp>
        <p:nvSpPr>
          <p:cNvPr id="48" name="TextBox 47"/>
          <p:cNvSpPr txBox="1"/>
          <p:nvPr/>
        </p:nvSpPr>
        <p:spPr>
          <a:xfrm>
            <a:off x="9336024" y="3941064"/>
            <a:ext cx="2651760" cy="475488"/>
          </a:xfrm>
          <a:prstGeom prst="rect">
            <a:avLst/>
          </a:prstGeom>
          <a:noFill/>
        </p:spPr>
        <p:txBody>
          <a:bodyPr wrap="square">
            <a:spAutoFit/>
          </a:bodyPr>
          <a:lstStyle/>
          <a:p>
            <a:pPr algn="l"/>
            <a:r>
              <a:rPr sz="1050" b="0">
                <a:solidFill>
                  <a:srgbClr val="B0BAD4"/>
                </a:solidFill>
              </a:rPr>
              <a:t>  + Auto-grading with AI</a:t>
            </a:r>
          </a:p>
        </p:txBody>
      </p:sp>
      <p:sp>
        <p:nvSpPr>
          <p:cNvPr id="49" name="TextBox 48"/>
          <p:cNvSpPr txBox="1"/>
          <p:nvPr/>
        </p:nvSpPr>
        <p:spPr>
          <a:xfrm>
            <a:off x="9336024" y="4480560"/>
            <a:ext cx="2651760" cy="475488"/>
          </a:xfrm>
          <a:prstGeom prst="rect">
            <a:avLst/>
          </a:prstGeom>
          <a:noFill/>
        </p:spPr>
        <p:txBody>
          <a:bodyPr wrap="square">
            <a:spAutoFit/>
          </a:bodyPr>
          <a:lstStyle/>
          <a:p>
            <a:pPr algn="l"/>
            <a:r>
              <a:rPr sz="1050" b="0">
                <a:solidFill>
                  <a:srgbClr val="B0BAD4"/>
                </a:solidFill>
              </a:rPr>
              <a:t>  + Advanced BI dashboard</a:t>
            </a:r>
          </a:p>
        </p:txBody>
      </p:sp>
      <p:sp>
        <p:nvSpPr>
          <p:cNvPr id="50" name="TextBox 49"/>
          <p:cNvSpPr txBox="1"/>
          <p:nvPr/>
        </p:nvSpPr>
        <p:spPr>
          <a:xfrm>
            <a:off x="9336024" y="5020056"/>
            <a:ext cx="2651760" cy="475488"/>
          </a:xfrm>
          <a:prstGeom prst="rect">
            <a:avLst/>
          </a:prstGeom>
          <a:noFill/>
        </p:spPr>
        <p:txBody>
          <a:bodyPr wrap="square">
            <a:spAutoFit/>
          </a:bodyPr>
          <a:lstStyle/>
          <a:p>
            <a:pPr algn="l"/>
            <a:r>
              <a:rPr sz="1050" b="0">
                <a:solidFill>
                  <a:srgbClr val="B0BAD4"/>
                </a:solidFill>
              </a:rPr>
              <a:t>  + ISO 27001 compliance</a:t>
            </a:r>
          </a:p>
        </p:txBody>
      </p:sp>
      <p:sp>
        <p:nvSpPr>
          <p:cNvPr id="51" name="TextBox 50"/>
          <p:cNvSpPr txBox="1"/>
          <p:nvPr/>
        </p:nvSpPr>
        <p:spPr>
          <a:xfrm>
            <a:off x="9336024" y="5559552"/>
            <a:ext cx="2651760" cy="475488"/>
          </a:xfrm>
          <a:prstGeom prst="rect">
            <a:avLst/>
          </a:prstGeom>
          <a:noFill/>
        </p:spPr>
        <p:txBody>
          <a:bodyPr wrap="square">
            <a:spAutoFit/>
          </a:bodyPr>
          <a:lstStyle/>
          <a:p>
            <a:pPr algn="l"/>
            <a:r>
              <a:rPr sz="1050" b="0">
                <a:solidFill>
                  <a:srgbClr val="B0BAD4"/>
                </a:solidFill>
              </a:rPr>
              <a:t>  + API marketplace</a:t>
            </a:r>
          </a:p>
        </p:txBody>
      </p:sp>
      <p:sp>
        <p:nvSpPr>
          <p:cNvPr id="52" name="TextBox 51"/>
          <p:cNvSpPr txBox="1"/>
          <p:nvPr/>
        </p:nvSpPr>
        <p:spPr>
          <a:xfrm>
            <a:off x="9336024" y="6099048"/>
            <a:ext cx="2651760" cy="475488"/>
          </a:xfrm>
          <a:prstGeom prst="rect">
            <a:avLst/>
          </a:prstGeom>
          <a:noFill/>
        </p:spPr>
        <p:txBody>
          <a:bodyPr wrap="square">
            <a:spAutoFit/>
          </a:bodyPr>
          <a:lstStyle/>
          <a:p>
            <a:pPr algn="l"/>
            <a:r>
              <a:rPr sz="1050" b="0">
                <a:solidFill>
                  <a:srgbClr val="B0BAD4"/>
                </a:solidFill>
              </a:rPr>
              <a:t>  + International expansion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1298448"/>
          </a:xfrm>
          <a:prstGeom prst="rect">
            <a:avLst/>
          </a:prstGeom>
          <a:solidFill>
            <a:srgbClr val="0D14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6094476" cy="64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4476" y="0"/>
            <a:ext cx="6094476" cy="64008"/>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09728"/>
            <a:ext cx="11430000" cy="685800"/>
          </a:xfrm>
          <a:prstGeom prst="rect">
            <a:avLst/>
          </a:prstGeom>
          <a:noFill/>
        </p:spPr>
        <p:txBody>
          <a:bodyPr wrap="square">
            <a:spAutoFit/>
          </a:bodyPr>
          <a:lstStyle/>
          <a:p>
            <a:pPr algn="l"/>
            <a:r>
              <a:rPr sz="2900" b="1">
                <a:solidFill>
                  <a:srgbClr val="FFFFFF"/>
                </a:solidFill>
              </a:rPr>
              <a:t>Why EduSphere? Our Competitive Edge</a:t>
            </a:r>
          </a:p>
        </p:txBody>
      </p:sp>
      <p:sp>
        <p:nvSpPr>
          <p:cNvPr id="6" name="TextBox 5"/>
          <p:cNvSpPr txBox="1"/>
          <p:nvPr/>
        </p:nvSpPr>
        <p:spPr>
          <a:xfrm>
            <a:off x="365760" y="768096"/>
            <a:ext cx="11430000" cy="420624"/>
          </a:xfrm>
          <a:prstGeom prst="rect">
            <a:avLst/>
          </a:prstGeom>
          <a:noFill/>
        </p:spPr>
        <p:txBody>
          <a:bodyPr wrap="square">
            <a:spAutoFit/>
          </a:bodyPr>
          <a:lstStyle/>
          <a:p>
            <a:pPr algn="l"/>
            <a:r>
              <a:rPr sz="1250" b="0">
                <a:solidFill>
                  <a:srgbClr val="B0BAD4"/>
                </a:solidFill>
              </a:rPr>
              <a:t>How we address each evaluation criterion — Innovation, Clarity, Feasibility, and Impact</a:t>
            </a:r>
          </a:p>
        </p:txBody>
      </p:sp>
      <p:sp>
        <p:nvSpPr>
          <p:cNvPr id="7" name="Rectangle 6"/>
          <p:cNvSpPr/>
          <p:nvPr/>
        </p:nvSpPr>
        <p:spPr>
          <a:xfrm>
            <a:off x="365760" y="1225296"/>
            <a:ext cx="2514600" cy="457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880360" y="1225296"/>
            <a:ext cx="2514600" cy="45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1371600"/>
            <a:ext cx="5687568" cy="2542032"/>
          </a:xfrm>
          <a:prstGeom prst="rect">
            <a:avLst/>
          </a:prstGeom>
          <a:solidFill>
            <a:srgbClr val="0C1426"/>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65760" y="1371600"/>
            <a:ext cx="5687568" cy="42062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0624" y="1435608"/>
            <a:ext cx="5577840" cy="329184"/>
          </a:xfrm>
          <a:prstGeom prst="rect">
            <a:avLst/>
          </a:prstGeom>
          <a:noFill/>
        </p:spPr>
        <p:txBody>
          <a:bodyPr wrap="square">
            <a:spAutoFit/>
          </a:bodyPr>
          <a:lstStyle/>
          <a:p>
            <a:pPr algn="l"/>
            <a:r>
              <a:rPr sz="1300" b="1">
                <a:solidFill>
                  <a:srgbClr val="FFFFFF"/>
                </a:solidFill>
              </a:rPr>
              <a:t>  Innovation</a:t>
            </a:r>
          </a:p>
        </p:txBody>
      </p:sp>
      <p:sp>
        <p:nvSpPr>
          <p:cNvPr id="12" name="TextBox 11"/>
          <p:cNvSpPr txBox="1"/>
          <p:nvPr/>
        </p:nvSpPr>
        <p:spPr>
          <a:xfrm>
            <a:off x="512064" y="1874519"/>
            <a:ext cx="3794760" cy="861774"/>
          </a:xfrm>
          <a:prstGeom prst="rect">
            <a:avLst/>
          </a:prstGeom>
          <a:noFill/>
        </p:spPr>
        <p:txBody>
          <a:bodyPr wrap="square">
            <a:spAutoFit/>
          </a:bodyPr>
          <a:lstStyle/>
          <a:p>
            <a:pPr algn="just"/>
            <a:r>
              <a:rPr sz="1000" b="0" dirty="0" err="1">
                <a:solidFill>
                  <a:srgbClr val="B0BAD4"/>
                </a:solidFill>
              </a:rPr>
              <a:t>EduSphere</a:t>
            </a:r>
            <a:r>
              <a:rPr sz="1000" b="0" dirty="0">
                <a:solidFill>
                  <a:srgbClr val="B0BAD4"/>
                </a:solidFill>
              </a:rPr>
              <a:t> introduces dynamic student profile injection into AI prompts — a technique no existing campus ERP uses. The tiered response architecture (Live Gemini + Demo fallback) ensures reliable AI even in offline environments. The </a:t>
            </a:r>
            <a:r>
              <a:rPr sz="1000" b="0" dirty="0" err="1">
                <a:solidFill>
                  <a:srgbClr val="B0BAD4"/>
                </a:solidFill>
              </a:rPr>
              <a:t>glassmorphism</a:t>
            </a:r>
            <a:r>
              <a:rPr sz="1000" b="0" dirty="0">
                <a:solidFill>
                  <a:srgbClr val="B0BAD4"/>
                </a:solidFill>
              </a:rPr>
              <a:t> UI sets a new benchmark for educational software design aesthetics.</a:t>
            </a:r>
          </a:p>
        </p:txBody>
      </p:sp>
      <p:sp>
        <p:nvSpPr>
          <p:cNvPr id="13" name="Rectangle 12"/>
          <p:cNvSpPr/>
          <p:nvPr/>
        </p:nvSpPr>
        <p:spPr>
          <a:xfrm>
            <a:off x="4407408" y="1847088"/>
            <a:ext cx="1481328" cy="548640"/>
          </a:xfrm>
          <a:prstGeom prst="rect">
            <a:avLst/>
          </a:prstGeom>
          <a:solidFill>
            <a:srgbClr val="081022"/>
          </a:solidFill>
          <a:ln w="1016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80560" y="1938528"/>
            <a:ext cx="1371600" cy="365760"/>
          </a:xfrm>
          <a:prstGeom prst="rect">
            <a:avLst/>
          </a:prstGeom>
          <a:noFill/>
        </p:spPr>
        <p:txBody>
          <a:bodyPr wrap="square">
            <a:spAutoFit/>
          </a:bodyPr>
          <a:lstStyle/>
          <a:p>
            <a:pPr algn="ctr"/>
            <a:r>
              <a:rPr sz="900" b="0">
                <a:solidFill>
                  <a:srgbClr val="6366F1"/>
                </a:solidFill>
              </a:rPr>
              <a:t>Novel AI context injection</a:t>
            </a:r>
          </a:p>
        </p:txBody>
      </p:sp>
      <p:sp>
        <p:nvSpPr>
          <p:cNvPr id="15" name="Rectangle 14"/>
          <p:cNvSpPr/>
          <p:nvPr/>
        </p:nvSpPr>
        <p:spPr>
          <a:xfrm>
            <a:off x="4407408" y="2496312"/>
            <a:ext cx="1481328" cy="548640"/>
          </a:xfrm>
          <a:prstGeom prst="rect">
            <a:avLst/>
          </a:prstGeom>
          <a:solidFill>
            <a:srgbClr val="081022"/>
          </a:solidFill>
          <a:ln w="1016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80560" y="2587752"/>
            <a:ext cx="1371600" cy="365760"/>
          </a:xfrm>
          <a:prstGeom prst="rect">
            <a:avLst/>
          </a:prstGeom>
          <a:noFill/>
        </p:spPr>
        <p:txBody>
          <a:bodyPr wrap="square">
            <a:spAutoFit/>
          </a:bodyPr>
          <a:lstStyle/>
          <a:p>
            <a:pPr algn="ctr"/>
            <a:r>
              <a:rPr sz="900" b="0">
                <a:solidFill>
                  <a:srgbClr val="6366F1"/>
                </a:solidFill>
              </a:rPr>
              <a:t>Tiered reliability design</a:t>
            </a:r>
          </a:p>
        </p:txBody>
      </p:sp>
      <p:sp>
        <p:nvSpPr>
          <p:cNvPr id="17" name="Rectangle 16"/>
          <p:cNvSpPr/>
          <p:nvPr/>
        </p:nvSpPr>
        <p:spPr>
          <a:xfrm>
            <a:off x="4407408" y="3145536"/>
            <a:ext cx="1481328" cy="548640"/>
          </a:xfrm>
          <a:prstGeom prst="rect">
            <a:avLst/>
          </a:prstGeom>
          <a:solidFill>
            <a:srgbClr val="081022"/>
          </a:solidFill>
          <a:ln w="1016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80560" y="3236976"/>
            <a:ext cx="1371600" cy="365760"/>
          </a:xfrm>
          <a:prstGeom prst="rect">
            <a:avLst/>
          </a:prstGeom>
          <a:noFill/>
        </p:spPr>
        <p:txBody>
          <a:bodyPr wrap="square">
            <a:spAutoFit/>
          </a:bodyPr>
          <a:lstStyle/>
          <a:p>
            <a:pPr algn="ctr"/>
            <a:r>
              <a:rPr sz="900" b="0">
                <a:solidFill>
                  <a:srgbClr val="6366F1"/>
                </a:solidFill>
              </a:rPr>
              <a:t>Premium UI in EdTech</a:t>
            </a:r>
          </a:p>
        </p:txBody>
      </p:sp>
      <p:sp>
        <p:nvSpPr>
          <p:cNvPr id="19" name="Rectangle 18"/>
          <p:cNvSpPr/>
          <p:nvPr/>
        </p:nvSpPr>
        <p:spPr>
          <a:xfrm>
            <a:off x="6281928" y="1371600"/>
            <a:ext cx="5687568" cy="2542032"/>
          </a:xfrm>
          <a:prstGeom prst="rect">
            <a:avLst/>
          </a:prstGeom>
          <a:solidFill>
            <a:srgbClr val="0C1426"/>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81928" y="1371600"/>
            <a:ext cx="5687568" cy="42062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36792" y="1435608"/>
            <a:ext cx="5577840" cy="329184"/>
          </a:xfrm>
          <a:prstGeom prst="rect">
            <a:avLst/>
          </a:prstGeom>
          <a:noFill/>
        </p:spPr>
        <p:txBody>
          <a:bodyPr wrap="square">
            <a:spAutoFit/>
          </a:bodyPr>
          <a:lstStyle/>
          <a:p>
            <a:pPr algn="l"/>
            <a:r>
              <a:rPr sz="1300" b="1">
                <a:solidFill>
                  <a:srgbClr val="FFFFFF"/>
                </a:solidFill>
              </a:rPr>
              <a:t>  Clarity of Approach</a:t>
            </a:r>
          </a:p>
        </p:txBody>
      </p:sp>
      <p:sp>
        <p:nvSpPr>
          <p:cNvPr id="22" name="TextBox 21"/>
          <p:cNvSpPr txBox="1"/>
          <p:nvPr/>
        </p:nvSpPr>
        <p:spPr>
          <a:xfrm>
            <a:off x="6428232" y="1874519"/>
            <a:ext cx="3794760" cy="707886"/>
          </a:xfrm>
          <a:prstGeom prst="rect">
            <a:avLst/>
          </a:prstGeom>
          <a:noFill/>
        </p:spPr>
        <p:txBody>
          <a:bodyPr wrap="square">
            <a:spAutoFit/>
          </a:bodyPr>
          <a:lstStyle/>
          <a:p>
            <a:pPr algn="just"/>
            <a:r>
              <a:rPr sz="1000" b="0" dirty="0">
                <a:solidFill>
                  <a:srgbClr val="B0BAD4"/>
                </a:solidFill>
              </a:rPr>
              <a:t>Clear problem: 4 identified pain points with supporting statistics. Clear solution: 6 integrated modules with defined user flows for 4 roles. Clear execution: 8-hour build plan with time-boxed deliverables and a fully rehearsed demo scenario.</a:t>
            </a:r>
          </a:p>
        </p:txBody>
      </p:sp>
      <p:sp>
        <p:nvSpPr>
          <p:cNvPr id="23" name="Rectangle 22"/>
          <p:cNvSpPr/>
          <p:nvPr/>
        </p:nvSpPr>
        <p:spPr>
          <a:xfrm>
            <a:off x="10323576" y="1847088"/>
            <a:ext cx="1481328" cy="548640"/>
          </a:xfrm>
          <a:prstGeom prst="rect">
            <a:avLst/>
          </a:prstGeom>
          <a:solidFill>
            <a:srgbClr val="081022"/>
          </a:solidFill>
          <a:ln w="1016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396728" y="1938528"/>
            <a:ext cx="1371600" cy="365760"/>
          </a:xfrm>
          <a:prstGeom prst="rect">
            <a:avLst/>
          </a:prstGeom>
          <a:noFill/>
        </p:spPr>
        <p:txBody>
          <a:bodyPr wrap="square">
            <a:spAutoFit/>
          </a:bodyPr>
          <a:lstStyle/>
          <a:p>
            <a:pPr algn="ctr"/>
            <a:r>
              <a:rPr sz="900" b="0">
                <a:solidFill>
                  <a:srgbClr val="06B6D4"/>
                </a:solidFill>
              </a:rPr>
              <a:t>4 pain points with stats</a:t>
            </a:r>
          </a:p>
        </p:txBody>
      </p:sp>
      <p:sp>
        <p:nvSpPr>
          <p:cNvPr id="25" name="Rectangle 24"/>
          <p:cNvSpPr/>
          <p:nvPr/>
        </p:nvSpPr>
        <p:spPr>
          <a:xfrm>
            <a:off x="10323576" y="2496312"/>
            <a:ext cx="1481328" cy="548640"/>
          </a:xfrm>
          <a:prstGeom prst="rect">
            <a:avLst/>
          </a:prstGeom>
          <a:solidFill>
            <a:srgbClr val="081022"/>
          </a:solidFill>
          <a:ln w="1016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396728" y="2587752"/>
            <a:ext cx="1371600" cy="365760"/>
          </a:xfrm>
          <a:prstGeom prst="rect">
            <a:avLst/>
          </a:prstGeom>
          <a:noFill/>
        </p:spPr>
        <p:txBody>
          <a:bodyPr wrap="square">
            <a:spAutoFit/>
          </a:bodyPr>
          <a:lstStyle/>
          <a:p>
            <a:pPr algn="ctr"/>
            <a:r>
              <a:rPr sz="900" b="0">
                <a:solidFill>
                  <a:srgbClr val="06B6D4"/>
                </a:solidFill>
              </a:rPr>
              <a:t>6 modules, 4 user roles</a:t>
            </a:r>
          </a:p>
        </p:txBody>
      </p:sp>
      <p:sp>
        <p:nvSpPr>
          <p:cNvPr id="27" name="Rectangle 26"/>
          <p:cNvSpPr/>
          <p:nvPr/>
        </p:nvSpPr>
        <p:spPr>
          <a:xfrm>
            <a:off x="10323576" y="3145536"/>
            <a:ext cx="1481328" cy="548640"/>
          </a:xfrm>
          <a:prstGeom prst="rect">
            <a:avLst/>
          </a:prstGeom>
          <a:solidFill>
            <a:srgbClr val="081022"/>
          </a:solidFill>
          <a:ln w="1016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396728" y="3236976"/>
            <a:ext cx="1371600" cy="365760"/>
          </a:xfrm>
          <a:prstGeom prst="rect">
            <a:avLst/>
          </a:prstGeom>
          <a:noFill/>
        </p:spPr>
        <p:txBody>
          <a:bodyPr wrap="square">
            <a:spAutoFit/>
          </a:bodyPr>
          <a:lstStyle/>
          <a:p>
            <a:pPr algn="ctr"/>
            <a:r>
              <a:rPr sz="900" b="0">
                <a:solidFill>
                  <a:srgbClr val="06B6D4"/>
                </a:solidFill>
              </a:rPr>
              <a:t>Time-boxed build plan</a:t>
            </a:r>
          </a:p>
        </p:txBody>
      </p:sp>
      <p:sp>
        <p:nvSpPr>
          <p:cNvPr id="29" name="Rectangle 28"/>
          <p:cNvSpPr/>
          <p:nvPr/>
        </p:nvSpPr>
        <p:spPr>
          <a:xfrm>
            <a:off x="365760" y="4069080"/>
            <a:ext cx="5687568" cy="2542032"/>
          </a:xfrm>
          <a:prstGeom prst="rect">
            <a:avLst/>
          </a:prstGeom>
          <a:solidFill>
            <a:srgbClr val="0C1426"/>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65760" y="4069080"/>
            <a:ext cx="5687568" cy="420624"/>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20624" y="4133088"/>
            <a:ext cx="5577840" cy="329184"/>
          </a:xfrm>
          <a:prstGeom prst="rect">
            <a:avLst/>
          </a:prstGeom>
          <a:noFill/>
        </p:spPr>
        <p:txBody>
          <a:bodyPr wrap="square">
            <a:spAutoFit/>
          </a:bodyPr>
          <a:lstStyle/>
          <a:p>
            <a:pPr algn="l"/>
            <a:r>
              <a:rPr sz="1300" b="1">
                <a:solidFill>
                  <a:srgbClr val="FFFFFF"/>
                </a:solidFill>
              </a:rPr>
              <a:t>  Technical Feasibility</a:t>
            </a:r>
          </a:p>
        </p:txBody>
      </p:sp>
      <p:sp>
        <p:nvSpPr>
          <p:cNvPr id="32" name="TextBox 31"/>
          <p:cNvSpPr txBox="1"/>
          <p:nvPr/>
        </p:nvSpPr>
        <p:spPr>
          <a:xfrm>
            <a:off x="512064" y="4572000"/>
            <a:ext cx="3794760" cy="707886"/>
          </a:xfrm>
          <a:prstGeom prst="rect">
            <a:avLst/>
          </a:prstGeom>
          <a:noFill/>
        </p:spPr>
        <p:txBody>
          <a:bodyPr wrap="square">
            <a:spAutoFit/>
          </a:bodyPr>
          <a:lstStyle/>
          <a:p>
            <a:pPr algn="just"/>
            <a:r>
              <a:rPr sz="1000" b="0" dirty="0">
                <a:solidFill>
                  <a:srgbClr val="B0BAD4"/>
                </a:solidFill>
              </a:rPr>
              <a:t>Every technology chosen is production-proven, free-tier accessible, and well-documented. Next.js, Gemini API, and </a:t>
            </a:r>
            <a:r>
              <a:rPr sz="1000" b="0" dirty="0" err="1">
                <a:solidFill>
                  <a:srgbClr val="B0BAD4"/>
                </a:solidFill>
              </a:rPr>
              <a:t>Razorpay</a:t>
            </a:r>
            <a:r>
              <a:rPr sz="1000" b="0" dirty="0">
                <a:solidFill>
                  <a:srgbClr val="B0BAD4"/>
                </a:solidFill>
              </a:rPr>
              <a:t> are all actively maintained with strong community support. Our team has prior experience with each technology in the stack.</a:t>
            </a:r>
          </a:p>
        </p:txBody>
      </p:sp>
      <p:sp>
        <p:nvSpPr>
          <p:cNvPr id="33" name="Rectangle 32"/>
          <p:cNvSpPr/>
          <p:nvPr/>
        </p:nvSpPr>
        <p:spPr>
          <a:xfrm>
            <a:off x="4407408" y="4544568"/>
            <a:ext cx="1481328" cy="548640"/>
          </a:xfrm>
          <a:prstGeom prst="rect">
            <a:avLst/>
          </a:prstGeom>
          <a:solidFill>
            <a:srgbClr val="081022"/>
          </a:solidFill>
          <a:ln w="1016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480560" y="4636008"/>
            <a:ext cx="1371600" cy="365760"/>
          </a:xfrm>
          <a:prstGeom prst="rect">
            <a:avLst/>
          </a:prstGeom>
          <a:noFill/>
        </p:spPr>
        <p:txBody>
          <a:bodyPr wrap="square">
            <a:spAutoFit/>
          </a:bodyPr>
          <a:lstStyle/>
          <a:p>
            <a:pPr algn="ctr"/>
            <a:r>
              <a:rPr sz="900" b="0">
                <a:solidFill>
                  <a:srgbClr val="A855F7"/>
                </a:solidFill>
              </a:rPr>
              <a:t>All APIs are free-tier</a:t>
            </a:r>
          </a:p>
        </p:txBody>
      </p:sp>
      <p:sp>
        <p:nvSpPr>
          <p:cNvPr id="35" name="Rectangle 34"/>
          <p:cNvSpPr/>
          <p:nvPr/>
        </p:nvSpPr>
        <p:spPr>
          <a:xfrm>
            <a:off x="4407408" y="5193792"/>
            <a:ext cx="1481328" cy="548640"/>
          </a:xfrm>
          <a:prstGeom prst="rect">
            <a:avLst/>
          </a:prstGeom>
          <a:solidFill>
            <a:srgbClr val="081022"/>
          </a:solidFill>
          <a:ln w="1016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480560" y="5285232"/>
            <a:ext cx="1371600" cy="365760"/>
          </a:xfrm>
          <a:prstGeom prst="rect">
            <a:avLst/>
          </a:prstGeom>
          <a:noFill/>
        </p:spPr>
        <p:txBody>
          <a:bodyPr wrap="square">
            <a:spAutoFit/>
          </a:bodyPr>
          <a:lstStyle/>
          <a:p>
            <a:pPr algn="ctr"/>
            <a:r>
              <a:rPr sz="900" b="0">
                <a:solidFill>
                  <a:srgbClr val="A855F7"/>
                </a:solidFill>
              </a:rPr>
              <a:t>Production-proven stack</a:t>
            </a:r>
          </a:p>
        </p:txBody>
      </p:sp>
      <p:sp>
        <p:nvSpPr>
          <p:cNvPr id="37" name="Rectangle 36"/>
          <p:cNvSpPr/>
          <p:nvPr/>
        </p:nvSpPr>
        <p:spPr>
          <a:xfrm>
            <a:off x="4407408" y="5843016"/>
            <a:ext cx="1481328" cy="548640"/>
          </a:xfrm>
          <a:prstGeom prst="rect">
            <a:avLst/>
          </a:prstGeom>
          <a:solidFill>
            <a:srgbClr val="081022"/>
          </a:solidFill>
          <a:ln w="1016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480560" y="5934456"/>
            <a:ext cx="1371600" cy="365760"/>
          </a:xfrm>
          <a:prstGeom prst="rect">
            <a:avLst/>
          </a:prstGeom>
          <a:noFill/>
        </p:spPr>
        <p:txBody>
          <a:bodyPr wrap="square">
            <a:spAutoFit/>
          </a:bodyPr>
          <a:lstStyle/>
          <a:p>
            <a:pPr algn="ctr"/>
            <a:r>
              <a:rPr sz="900" b="0">
                <a:solidFill>
                  <a:srgbClr val="A855F7"/>
                </a:solidFill>
              </a:rPr>
              <a:t>Team has prior experience</a:t>
            </a:r>
          </a:p>
        </p:txBody>
      </p:sp>
      <p:sp>
        <p:nvSpPr>
          <p:cNvPr id="39" name="Rectangle 38"/>
          <p:cNvSpPr/>
          <p:nvPr/>
        </p:nvSpPr>
        <p:spPr>
          <a:xfrm>
            <a:off x="6281928" y="4069080"/>
            <a:ext cx="5687568" cy="2542032"/>
          </a:xfrm>
          <a:prstGeom prst="rect">
            <a:avLst/>
          </a:prstGeom>
          <a:solidFill>
            <a:srgbClr val="0C1426"/>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281928" y="4069080"/>
            <a:ext cx="5687568" cy="42062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336792" y="4133088"/>
            <a:ext cx="5577840" cy="329184"/>
          </a:xfrm>
          <a:prstGeom prst="rect">
            <a:avLst/>
          </a:prstGeom>
          <a:noFill/>
        </p:spPr>
        <p:txBody>
          <a:bodyPr wrap="square">
            <a:spAutoFit/>
          </a:bodyPr>
          <a:lstStyle/>
          <a:p>
            <a:pPr algn="l"/>
            <a:r>
              <a:rPr sz="1300" b="1">
                <a:solidFill>
                  <a:srgbClr val="FFFFFF"/>
                </a:solidFill>
              </a:rPr>
              <a:t>  Potential Impact</a:t>
            </a:r>
          </a:p>
        </p:txBody>
      </p:sp>
      <p:sp>
        <p:nvSpPr>
          <p:cNvPr id="42" name="TextBox 41"/>
          <p:cNvSpPr txBox="1"/>
          <p:nvPr/>
        </p:nvSpPr>
        <p:spPr>
          <a:xfrm>
            <a:off x="6428232" y="4572000"/>
            <a:ext cx="3794760" cy="707886"/>
          </a:xfrm>
          <a:prstGeom prst="rect">
            <a:avLst/>
          </a:prstGeom>
          <a:noFill/>
        </p:spPr>
        <p:txBody>
          <a:bodyPr wrap="square">
            <a:spAutoFit/>
          </a:bodyPr>
          <a:lstStyle/>
          <a:p>
            <a:pPr algn="just"/>
            <a:r>
              <a:rPr sz="1000" b="0">
                <a:solidFill>
                  <a:srgbClr val="B0BAD4"/>
                </a:solidFill>
              </a:rPr>
              <a:t>EduSphere targets 50,000+ Indian institutions and 220M+ students. It aligns with NEP 2020 digitization mandates. It reduces admin costs, improves student outcomes, and creates a scalable SaaS revenue stream that can expand across South Asia, Africa, and MENA regions.</a:t>
            </a:r>
          </a:p>
        </p:txBody>
      </p:sp>
      <p:sp>
        <p:nvSpPr>
          <p:cNvPr id="43" name="Rectangle 42"/>
          <p:cNvSpPr/>
          <p:nvPr/>
        </p:nvSpPr>
        <p:spPr>
          <a:xfrm>
            <a:off x="10323576" y="4544568"/>
            <a:ext cx="1481328" cy="548640"/>
          </a:xfrm>
          <a:prstGeom prst="rect">
            <a:avLst/>
          </a:prstGeom>
          <a:solidFill>
            <a:srgbClr val="081022"/>
          </a:solidFill>
          <a:ln w="1016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396728" y="4636008"/>
            <a:ext cx="1371600" cy="365760"/>
          </a:xfrm>
          <a:prstGeom prst="rect">
            <a:avLst/>
          </a:prstGeom>
          <a:noFill/>
        </p:spPr>
        <p:txBody>
          <a:bodyPr wrap="square">
            <a:spAutoFit/>
          </a:bodyPr>
          <a:lstStyle/>
          <a:p>
            <a:pPr algn="ctr"/>
            <a:r>
              <a:rPr sz="900" b="0">
                <a:solidFill>
                  <a:srgbClr val="F5A623"/>
                </a:solidFill>
              </a:rPr>
              <a:t>220M+ students impacted</a:t>
            </a:r>
          </a:p>
        </p:txBody>
      </p:sp>
      <p:sp>
        <p:nvSpPr>
          <p:cNvPr id="45" name="Rectangle 44"/>
          <p:cNvSpPr/>
          <p:nvPr/>
        </p:nvSpPr>
        <p:spPr>
          <a:xfrm>
            <a:off x="10323576" y="5193792"/>
            <a:ext cx="1481328" cy="548640"/>
          </a:xfrm>
          <a:prstGeom prst="rect">
            <a:avLst/>
          </a:prstGeom>
          <a:solidFill>
            <a:srgbClr val="081022"/>
          </a:solidFill>
          <a:ln w="1016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396728" y="5285232"/>
            <a:ext cx="1371600" cy="365760"/>
          </a:xfrm>
          <a:prstGeom prst="rect">
            <a:avLst/>
          </a:prstGeom>
          <a:noFill/>
        </p:spPr>
        <p:txBody>
          <a:bodyPr wrap="square">
            <a:spAutoFit/>
          </a:bodyPr>
          <a:lstStyle/>
          <a:p>
            <a:pPr algn="ctr"/>
            <a:r>
              <a:rPr sz="900" b="0">
                <a:solidFill>
                  <a:srgbClr val="F5A623"/>
                </a:solidFill>
              </a:rPr>
              <a:t>NEP 2020 aligned</a:t>
            </a:r>
          </a:p>
        </p:txBody>
      </p:sp>
      <p:sp>
        <p:nvSpPr>
          <p:cNvPr id="47" name="Rectangle 46"/>
          <p:cNvSpPr/>
          <p:nvPr/>
        </p:nvSpPr>
        <p:spPr>
          <a:xfrm>
            <a:off x="10323576" y="5843016"/>
            <a:ext cx="1481328" cy="548640"/>
          </a:xfrm>
          <a:prstGeom prst="rect">
            <a:avLst/>
          </a:prstGeom>
          <a:solidFill>
            <a:srgbClr val="081022"/>
          </a:solidFill>
          <a:ln w="1016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396728" y="5934456"/>
            <a:ext cx="1371600" cy="365760"/>
          </a:xfrm>
          <a:prstGeom prst="rect">
            <a:avLst/>
          </a:prstGeom>
          <a:noFill/>
        </p:spPr>
        <p:txBody>
          <a:bodyPr wrap="square">
            <a:spAutoFit/>
          </a:bodyPr>
          <a:lstStyle/>
          <a:p>
            <a:pPr algn="ctr"/>
            <a:r>
              <a:rPr sz="900" b="0">
                <a:solidFill>
                  <a:srgbClr val="F5A623"/>
                </a:solidFill>
              </a:rPr>
              <a:t>Scalable SaaS globally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66560"/>
            <a:ext cx="12188952" cy="914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041648" y="1097280"/>
            <a:ext cx="4114800" cy="4114800"/>
          </a:xfrm>
          <a:prstGeom prst="ellipse">
            <a:avLst/>
          </a:prstGeom>
          <a:solidFill>
            <a:srgbClr val="0C1426"/>
          </a:solidFill>
          <a:ln w="317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041648" y="1325880"/>
            <a:ext cx="4114800" cy="3474720"/>
          </a:xfrm>
          <a:prstGeom prst="rect">
            <a:avLst/>
          </a:prstGeom>
          <a:noFill/>
        </p:spPr>
        <p:txBody>
          <a:bodyPr wrap="square">
            <a:spAutoFit/>
          </a:bodyPr>
          <a:lstStyle/>
          <a:p>
            <a:pPr algn="ctr"/>
            <a:r>
              <a:rPr sz="14000" b="1">
                <a:solidFill>
                  <a:srgbClr val="6366F1"/>
                </a:solidFill>
              </a:rPr>
              <a:t>?</a:t>
            </a:r>
          </a:p>
        </p:txBody>
      </p:sp>
      <p:sp>
        <p:nvSpPr>
          <p:cNvPr id="6" name="TextBox 5"/>
          <p:cNvSpPr txBox="1"/>
          <p:nvPr/>
        </p:nvSpPr>
        <p:spPr>
          <a:xfrm>
            <a:off x="457200" y="5349240"/>
            <a:ext cx="11274552" cy="713232"/>
          </a:xfrm>
          <a:prstGeom prst="rect">
            <a:avLst/>
          </a:prstGeom>
          <a:noFill/>
        </p:spPr>
        <p:txBody>
          <a:bodyPr wrap="square">
            <a:spAutoFit/>
          </a:bodyPr>
          <a:lstStyle/>
          <a:p>
            <a:pPr algn="ctr"/>
            <a:r>
              <a:rPr sz="3600" b="1">
                <a:solidFill>
                  <a:srgbClr val="FFFFFF"/>
                </a:solidFill>
              </a:rPr>
              <a:t>Thank You!</a:t>
            </a:r>
          </a:p>
        </p:txBody>
      </p:sp>
      <p:sp>
        <p:nvSpPr>
          <p:cNvPr id="7" name="TextBox 6"/>
          <p:cNvSpPr txBox="1"/>
          <p:nvPr/>
        </p:nvSpPr>
        <p:spPr>
          <a:xfrm>
            <a:off x="731520" y="6016752"/>
            <a:ext cx="10698480" cy="292388"/>
          </a:xfrm>
          <a:prstGeom prst="rect">
            <a:avLst/>
          </a:prstGeom>
          <a:noFill/>
        </p:spPr>
        <p:txBody>
          <a:bodyPr wrap="square">
            <a:spAutoFit/>
          </a:bodyPr>
          <a:lstStyle/>
          <a:p>
            <a:pPr algn="ctr"/>
            <a:r>
              <a:rPr sz="1300" b="0" dirty="0">
                <a:solidFill>
                  <a:srgbClr val="B0BAD4"/>
                </a:solidFill>
              </a:rPr>
              <a:t>We are excited to build </a:t>
            </a:r>
            <a:r>
              <a:rPr sz="1300" b="0" dirty="0" err="1">
                <a:solidFill>
                  <a:srgbClr val="B0BAD4"/>
                </a:solidFill>
              </a:rPr>
              <a:t>EduSphere</a:t>
            </a:r>
            <a:r>
              <a:rPr sz="1300" b="0" dirty="0">
                <a:solidFill>
                  <a:srgbClr val="B0BAD4"/>
                </a:solidFill>
              </a:rPr>
              <a:t> at the </a:t>
            </a:r>
            <a:r>
              <a:rPr lang="en-US" sz="1300" dirty="0">
                <a:solidFill>
                  <a:srgbClr val="B0BAD4"/>
                </a:solidFill>
              </a:rPr>
              <a:t>Hyderabad</a:t>
            </a:r>
            <a:r>
              <a:rPr sz="1300" b="0" dirty="0">
                <a:solidFill>
                  <a:srgbClr val="B0BAD4"/>
                </a:solidFill>
              </a:rPr>
              <a:t> Zonal Hackathon and demonstrate its potential to transform campus life.</a:t>
            </a:r>
          </a:p>
        </p:txBody>
      </p:sp>
      <p:sp>
        <p:nvSpPr>
          <p:cNvPr id="8" name="Rectangle 7"/>
          <p:cNvSpPr/>
          <p:nvPr/>
        </p:nvSpPr>
        <p:spPr>
          <a:xfrm>
            <a:off x="2286000" y="6492240"/>
            <a:ext cx="3794760"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080760" y="6492240"/>
            <a:ext cx="3794760" cy="54864"/>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2897</Words>
  <Application>Microsoft Office PowerPoint</Application>
  <PresentationFormat>Custom</PresentationFormat>
  <Paragraphs>307</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Venkata Teja P</cp:lastModifiedBy>
  <cp:revision>3</cp:revision>
  <dcterms:created xsi:type="dcterms:W3CDTF">2013-01-27T09:14:16Z</dcterms:created>
  <dcterms:modified xsi:type="dcterms:W3CDTF">2026-05-27T07:30:15Z</dcterms:modified>
  <cp:category/>
</cp:coreProperties>
</file>